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media/image11.jpg" ContentType="image/jpeg"/>
  <Override PartName="/ppt/media/image12.jp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4" r:id="rId9"/>
    <p:sldId id="269" r:id="rId10"/>
    <p:sldId id="263" r:id="rId11"/>
    <p:sldId id="265" r:id="rId12"/>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2" d="100"/>
          <a:sy n="82" d="100"/>
        </p:scale>
        <p:origin x="864" y="11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84B86612-B127-4CD0-BF15-66D49A7175F7}" type="datetimeFigureOut">
              <a:rPr lang="en-IN" smtClean="0"/>
              <a:t>09-09-2025</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F7F439ED-1E90-4106-847A-8EF19031FE2F}" type="slidenum">
              <a:rPr lang="en-IN" smtClean="0"/>
              <a:t>‹#›</a:t>
            </a:fld>
            <a:endParaRPr lang="en-IN"/>
          </a:p>
        </p:txBody>
      </p:sp>
    </p:spTree>
    <p:extLst>
      <p:ext uri="{BB962C8B-B14F-4D97-AF65-F5344CB8AC3E}">
        <p14:creationId xmlns:p14="http://schemas.microsoft.com/office/powerpoint/2010/main" val="29185579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7F439ED-1E90-4106-847A-8EF19031FE2F}" type="slidenum">
              <a:rPr lang="en-IN" smtClean="0"/>
              <a:t>1</a:t>
            </a:fld>
            <a:endParaRPr lang="en-IN"/>
          </a:p>
        </p:txBody>
      </p:sp>
    </p:spTree>
    <p:extLst>
      <p:ext uri="{BB962C8B-B14F-4D97-AF65-F5344CB8AC3E}">
        <p14:creationId xmlns:p14="http://schemas.microsoft.com/office/powerpoint/2010/main" val="4043535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F7F439ED-1E90-4106-847A-8EF19031FE2F}" type="slidenum">
              <a:rPr lang="en-IN" smtClean="0"/>
              <a:t>8</a:t>
            </a:fld>
            <a:endParaRPr lang="en-IN"/>
          </a:p>
        </p:txBody>
      </p:sp>
    </p:spTree>
    <p:extLst>
      <p:ext uri="{BB962C8B-B14F-4D97-AF65-F5344CB8AC3E}">
        <p14:creationId xmlns:p14="http://schemas.microsoft.com/office/powerpoint/2010/main" val="33660006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195574" y="2067305"/>
            <a:ext cx="5800851" cy="518160"/>
          </a:xfrm>
          <a:prstGeom prst="rect">
            <a:avLst/>
          </a:prstGeom>
        </p:spPr>
        <p:txBody>
          <a:bodyPr wrap="square" lIns="0" tIns="0" rIns="0" bIns="0">
            <a:spAutoFit/>
          </a:bodyPr>
          <a:lstStyle>
            <a:lvl1pPr>
              <a:defRPr sz="3200" b="0" i="0">
                <a:solidFill>
                  <a:schemeClr val="tx1"/>
                </a:solidFill>
                <a:latin typeface="Trebuchet MS"/>
                <a:cs typeface="Trebuchet MS"/>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9/9/2025</a:t>
            </a:fld>
            <a:endParaRPr lang="en-US"/>
          </a:p>
        </p:txBody>
      </p:sp>
      <p:sp>
        <p:nvSpPr>
          <p:cNvPr id="6" name="Holder 6"/>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tx1"/>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9/9/2025</a:t>
            </a:fld>
            <a:endParaRPr lang="en-US"/>
          </a:p>
        </p:txBody>
      </p:sp>
      <p:sp>
        <p:nvSpPr>
          <p:cNvPr id="6" name="Holder 6"/>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tx1"/>
                </a:solidFill>
                <a:latin typeface="Trebuchet MS"/>
                <a:cs typeface="Trebuchet MS"/>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9/9/2025</a:t>
            </a:fld>
            <a:endParaRPr lang="en-US"/>
          </a:p>
        </p:txBody>
      </p:sp>
      <p:sp>
        <p:nvSpPr>
          <p:cNvPr id="7" name="Holder 7"/>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tx1"/>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9/9/2025</a:t>
            </a:fld>
            <a:endParaRPr lang="en-US"/>
          </a:p>
        </p:txBody>
      </p:sp>
      <p:sp>
        <p:nvSpPr>
          <p:cNvPr id="5" name="Holder 5"/>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9/9/2025</a:t>
            </a:fld>
            <a:endParaRPr lang="en-US"/>
          </a:p>
        </p:txBody>
      </p:sp>
      <p:sp>
        <p:nvSpPr>
          <p:cNvPr id="4" name="Holder 4"/>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9377426" y="4825"/>
            <a:ext cx="1218565" cy="6853555"/>
          </a:xfrm>
          <a:custGeom>
            <a:avLst/>
            <a:gdLst/>
            <a:ahLst/>
            <a:cxnLst/>
            <a:rect l="l" t="t" r="r" b="b"/>
            <a:pathLst>
              <a:path w="1218565" h="6853555">
                <a:moveTo>
                  <a:pt x="0" y="0"/>
                </a:moveTo>
                <a:lnTo>
                  <a:pt x="1218352" y="6853171"/>
                </a:lnTo>
              </a:path>
            </a:pathLst>
          </a:custGeom>
          <a:ln w="9525">
            <a:solidFill>
              <a:srgbClr val="5FCAEE"/>
            </a:solidFill>
          </a:ln>
        </p:spPr>
        <p:txBody>
          <a:bodyPr wrap="square" lIns="0" tIns="0" rIns="0" bIns="0" rtlCol="0"/>
          <a:lstStyle/>
          <a:p>
            <a:endParaRPr/>
          </a:p>
        </p:txBody>
      </p:sp>
      <p:sp>
        <p:nvSpPr>
          <p:cNvPr id="17" name="bg object 17"/>
          <p:cNvSpPr/>
          <p:nvPr/>
        </p:nvSpPr>
        <p:spPr>
          <a:xfrm>
            <a:off x="7448612" y="3694896"/>
            <a:ext cx="4743450" cy="3163570"/>
          </a:xfrm>
          <a:custGeom>
            <a:avLst/>
            <a:gdLst/>
            <a:ahLst/>
            <a:cxnLst/>
            <a:rect l="l" t="t" r="r" b="b"/>
            <a:pathLst>
              <a:path w="4743450" h="3163570">
                <a:moveTo>
                  <a:pt x="4743387" y="0"/>
                </a:moveTo>
                <a:lnTo>
                  <a:pt x="0" y="3163101"/>
                </a:lnTo>
              </a:path>
            </a:pathLst>
          </a:custGeom>
          <a:ln w="9525">
            <a:solidFill>
              <a:srgbClr val="5FCAEE"/>
            </a:solidFill>
          </a:ln>
        </p:spPr>
        <p:txBody>
          <a:bodyPr wrap="square" lIns="0" tIns="0" rIns="0" bIns="0" rtlCol="0"/>
          <a:lstStyle/>
          <a:p>
            <a:endParaRPr/>
          </a:p>
        </p:txBody>
      </p:sp>
      <p:sp>
        <p:nvSpPr>
          <p:cNvPr id="18" name="bg object 18"/>
          <p:cNvSpPr/>
          <p:nvPr/>
        </p:nvSpPr>
        <p:spPr>
          <a:xfrm>
            <a:off x="9182100" y="0"/>
            <a:ext cx="3009900" cy="6858000"/>
          </a:xfrm>
          <a:custGeom>
            <a:avLst/>
            <a:gdLst/>
            <a:ahLst/>
            <a:cxn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wrap="square" lIns="0" tIns="0" rIns="0" bIns="0" rtlCol="0"/>
          <a:lstStyle/>
          <a:p>
            <a:endParaRPr/>
          </a:p>
        </p:txBody>
      </p:sp>
      <p:sp>
        <p:nvSpPr>
          <p:cNvPr id="19" name="bg object 19"/>
          <p:cNvSpPr/>
          <p:nvPr/>
        </p:nvSpPr>
        <p:spPr>
          <a:xfrm>
            <a:off x="9602878" y="0"/>
            <a:ext cx="2589530" cy="6858000"/>
          </a:xfrm>
          <a:custGeom>
            <a:avLst/>
            <a:gdLst/>
            <a:ahLst/>
            <a:cxn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wrap="square" lIns="0" tIns="0" rIns="0" bIns="0" rtlCol="0"/>
          <a:lstStyle/>
          <a:p>
            <a:endParaRPr/>
          </a:p>
        </p:txBody>
      </p:sp>
      <p:sp>
        <p:nvSpPr>
          <p:cNvPr id="20" name="bg object 20"/>
          <p:cNvSpPr/>
          <p:nvPr/>
        </p:nvSpPr>
        <p:spPr>
          <a:xfrm>
            <a:off x="8934450" y="3048000"/>
            <a:ext cx="3257550" cy="3810000"/>
          </a:xfrm>
          <a:custGeom>
            <a:avLst/>
            <a:gdLst/>
            <a:ahLst/>
            <a:cxn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wrap="square" lIns="0" tIns="0" rIns="0" bIns="0" rtlCol="0"/>
          <a:lstStyle/>
          <a:p>
            <a:endParaRPr/>
          </a:p>
        </p:txBody>
      </p:sp>
      <p:sp>
        <p:nvSpPr>
          <p:cNvPr id="21" name="bg object 21"/>
          <p:cNvSpPr/>
          <p:nvPr/>
        </p:nvSpPr>
        <p:spPr>
          <a:xfrm>
            <a:off x="9337930" y="0"/>
            <a:ext cx="2854325" cy="6858000"/>
          </a:xfrm>
          <a:custGeom>
            <a:avLst/>
            <a:gdLst/>
            <a:ahLst/>
            <a:cxn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wrap="square" lIns="0" tIns="0" rIns="0" bIns="0" rtlCol="0"/>
          <a:lstStyle/>
          <a:p>
            <a:endParaRPr/>
          </a:p>
        </p:txBody>
      </p:sp>
      <p:sp>
        <p:nvSpPr>
          <p:cNvPr id="22" name="bg object 22"/>
          <p:cNvSpPr/>
          <p:nvPr/>
        </p:nvSpPr>
        <p:spPr>
          <a:xfrm>
            <a:off x="10896600" y="0"/>
            <a:ext cx="1295400" cy="6858000"/>
          </a:xfrm>
          <a:custGeom>
            <a:avLst/>
            <a:gdLst/>
            <a:ahLst/>
            <a:cxn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wrap="square" lIns="0" tIns="0" rIns="0" bIns="0" rtlCol="0"/>
          <a:lstStyle/>
          <a:p>
            <a:endParaRPr/>
          </a:p>
        </p:txBody>
      </p:sp>
      <p:sp>
        <p:nvSpPr>
          <p:cNvPr id="23" name="bg object 23"/>
          <p:cNvSpPr/>
          <p:nvPr/>
        </p:nvSpPr>
        <p:spPr>
          <a:xfrm>
            <a:off x="10936247" y="0"/>
            <a:ext cx="1256030" cy="6858000"/>
          </a:xfrm>
          <a:custGeom>
            <a:avLst/>
            <a:gdLst/>
            <a:ahLst/>
            <a:cxn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wrap="square" lIns="0" tIns="0" rIns="0" bIns="0" rtlCol="0"/>
          <a:lstStyle/>
          <a:p>
            <a:endParaRPr/>
          </a:p>
        </p:txBody>
      </p:sp>
      <p:sp>
        <p:nvSpPr>
          <p:cNvPr id="24" name="bg object 24"/>
          <p:cNvSpPr/>
          <p:nvPr/>
        </p:nvSpPr>
        <p:spPr>
          <a:xfrm>
            <a:off x="10372725" y="3590925"/>
            <a:ext cx="1819275" cy="3267075"/>
          </a:xfrm>
          <a:custGeom>
            <a:avLst/>
            <a:gdLst/>
            <a:ahLst/>
            <a:cxn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wrap="square" lIns="0" tIns="0" rIns="0" bIns="0" rtlCol="0"/>
          <a:lstStyle/>
          <a:p>
            <a:endParaRPr/>
          </a:p>
        </p:txBody>
      </p:sp>
      <p:sp>
        <p:nvSpPr>
          <p:cNvPr id="25" name="bg object 25"/>
          <p:cNvSpPr/>
          <p:nvPr/>
        </p:nvSpPr>
        <p:spPr>
          <a:xfrm>
            <a:off x="0" y="4010025"/>
            <a:ext cx="447675" cy="2847975"/>
          </a:xfrm>
          <a:custGeom>
            <a:avLst/>
            <a:gdLst/>
            <a:ahLst/>
            <a:cxn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wrap="square" lIns="0" tIns="0" rIns="0" bIns="0" rtlCol="0"/>
          <a:lstStyle/>
          <a:p>
            <a:endParaRPr/>
          </a:p>
        </p:txBody>
      </p:sp>
      <p:sp>
        <p:nvSpPr>
          <p:cNvPr id="2" name="Holder 2"/>
          <p:cNvSpPr>
            <a:spLocks noGrp="1"/>
          </p:cNvSpPr>
          <p:nvPr>
            <p:ph type="title"/>
          </p:nvPr>
        </p:nvSpPr>
        <p:spPr>
          <a:xfrm>
            <a:off x="755332" y="385444"/>
            <a:ext cx="10681335" cy="758190"/>
          </a:xfrm>
          <a:prstGeom prst="rect">
            <a:avLst/>
          </a:prstGeom>
        </p:spPr>
        <p:txBody>
          <a:bodyPr wrap="square" lIns="0" tIns="0" rIns="0" bIns="0">
            <a:spAutoFit/>
          </a:bodyPr>
          <a:lstStyle>
            <a:lvl1pPr>
              <a:defRPr sz="4800" b="1" i="0">
                <a:solidFill>
                  <a:schemeClr val="tx1"/>
                </a:solidFill>
                <a:latin typeface="Trebuchet MS"/>
                <a:cs typeface="Trebuchet MS"/>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9/9/2025</a:t>
            </a:fld>
            <a:endParaRPr lang="en-US"/>
          </a:p>
        </p:txBody>
      </p:sp>
      <p:sp>
        <p:nvSpPr>
          <p:cNvPr id="6" name="Holder 6"/>
          <p:cNvSpPr>
            <a:spLocks noGrp="1"/>
          </p:cNvSpPr>
          <p:nvPr>
            <p:ph type="sldNum" sz="quarter" idx="7"/>
          </p:nvPr>
        </p:nvSpPr>
        <p:spPr>
          <a:xfrm>
            <a:off x="11353418" y="6473337"/>
            <a:ext cx="151129" cy="191770"/>
          </a:xfrm>
          <a:prstGeom prst="rect">
            <a:avLst/>
          </a:prstGeom>
        </p:spPr>
        <p:txBody>
          <a:bodyPr wrap="square" lIns="0" tIns="0" rIns="0" bIns="0">
            <a:spAutoFit/>
          </a:bodyPr>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4.xml"/><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4.xml"/><Relationship Id="rId4" Type="http://schemas.openxmlformats.org/officeDocument/2006/relationships/image" Target="../media/image12.jpg"/></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876299" y="990600"/>
            <a:ext cx="1743075" cy="1333500"/>
            <a:chOff x="742950" y="1104900"/>
            <a:chExt cx="1743075" cy="1333500"/>
          </a:xfrm>
        </p:grpSpPr>
        <p:sp>
          <p:nvSpPr>
            <p:cNvPr id="3" name="object 3"/>
            <p:cNvSpPr/>
            <p:nvPr/>
          </p:nvSpPr>
          <p:spPr>
            <a:xfrm>
              <a:off x="742950" y="1381125"/>
              <a:ext cx="1228725" cy="1057275"/>
            </a:xfrm>
            <a:custGeom>
              <a:avLst/>
              <a:gdLst/>
              <a:ahLst/>
              <a:cxnLst/>
              <a:rect l="l" t="t" r="r" b="b"/>
              <a:pathLst>
                <a:path w="1228725" h="1057275">
                  <a:moveTo>
                    <a:pt x="964438" y="0"/>
                  </a:moveTo>
                  <a:lnTo>
                    <a:pt x="264312" y="0"/>
                  </a:lnTo>
                  <a:lnTo>
                    <a:pt x="0" y="528701"/>
                  </a:lnTo>
                  <a:lnTo>
                    <a:pt x="264312" y="1057275"/>
                  </a:lnTo>
                  <a:lnTo>
                    <a:pt x="964438" y="1057275"/>
                  </a:lnTo>
                  <a:lnTo>
                    <a:pt x="1228725" y="528701"/>
                  </a:lnTo>
                  <a:lnTo>
                    <a:pt x="964438" y="0"/>
                  </a:lnTo>
                  <a:close/>
                </a:path>
              </a:pathLst>
            </a:custGeom>
            <a:solidFill>
              <a:srgbClr val="5FCAEE"/>
            </a:solidFill>
          </p:spPr>
          <p:txBody>
            <a:bodyPr wrap="square" lIns="0" tIns="0" rIns="0" bIns="0" rtlCol="0"/>
            <a:lstStyle/>
            <a:p>
              <a:endParaRPr/>
            </a:p>
          </p:txBody>
        </p:sp>
        <p:sp>
          <p:nvSpPr>
            <p:cNvPr id="4" name="object 4"/>
            <p:cNvSpPr/>
            <p:nvPr/>
          </p:nvSpPr>
          <p:spPr>
            <a:xfrm>
              <a:off x="1838325" y="1104900"/>
              <a:ext cx="647700" cy="561975"/>
            </a:xfrm>
            <a:custGeom>
              <a:avLst/>
              <a:gdLst/>
              <a:ahLst/>
              <a:cxnLst/>
              <a:rect l="l" t="t" r="r" b="b"/>
              <a:pathLst>
                <a:path w="647700" h="561975">
                  <a:moveTo>
                    <a:pt x="507238" y="0"/>
                  </a:moveTo>
                  <a:lnTo>
                    <a:pt x="140462" y="0"/>
                  </a:lnTo>
                  <a:lnTo>
                    <a:pt x="0" y="280924"/>
                  </a:lnTo>
                  <a:lnTo>
                    <a:pt x="140462" y="561975"/>
                  </a:lnTo>
                  <a:lnTo>
                    <a:pt x="507238" y="561975"/>
                  </a:lnTo>
                  <a:lnTo>
                    <a:pt x="647700" y="280924"/>
                  </a:lnTo>
                  <a:lnTo>
                    <a:pt x="507238" y="0"/>
                  </a:lnTo>
                  <a:close/>
                </a:path>
              </a:pathLst>
            </a:custGeom>
            <a:solidFill>
              <a:srgbClr val="2D936B"/>
            </a:solidFill>
          </p:spPr>
          <p:txBody>
            <a:bodyPr wrap="square" lIns="0" tIns="0" rIns="0" bIns="0" rtlCol="0"/>
            <a:lstStyle/>
            <a:p>
              <a:endParaRPr/>
            </a:p>
          </p:txBody>
        </p:sp>
      </p:grpSp>
      <p:sp>
        <p:nvSpPr>
          <p:cNvPr id="5" name="object 5"/>
          <p:cNvSpPr/>
          <p:nvPr/>
        </p:nvSpPr>
        <p:spPr>
          <a:xfrm>
            <a:off x="3752850" y="1190625"/>
            <a:ext cx="1666875" cy="1438275"/>
          </a:xfrm>
          <a:custGeom>
            <a:avLst/>
            <a:gdLst/>
            <a:ahLst/>
            <a:cxnLst/>
            <a:rect l="l" t="t" r="r" b="b"/>
            <a:pathLst>
              <a:path w="1666875" h="1438275">
                <a:moveTo>
                  <a:pt x="1307338" y="0"/>
                </a:moveTo>
                <a:lnTo>
                  <a:pt x="359537" y="0"/>
                </a:lnTo>
                <a:lnTo>
                  <a:pt x="0" y="719074"/>
                </a:lnTo>
                <a:lnTo>
                  <a:pt x="359537" y="1438275"/>
                </a:lnTo>
                <a:lnTo>
                  <a:pt x="1307338" y="1438275"/>
                </a:lnTo>
                <a:lnTo>
                  <a:pt x="1666875" y="719074"/>
                </a:lnTo>
                <a:lnTo>
                  <a:pt x="1307338" y="0"/>
                </a:lnTo>
                <a:close/>
              </a:path>
            </a:pathLst>
          </a:custGeom>
          <a:solidFill>
            <a:srgbClr val="42D0A1"/>
          </a:solidFill>
        </p:spPr>
        <p:txBody>
          <a:bodyPr wrap="square" lIns="0" tIns="0" rIns="0" bIns="0" rtlCol="0"/>
          <a:lstStyle/>
          <a:p>
            <a:endParaRPr/>
          </a:p>
        </p:txBody>
      </p:sp>
      <p:sp>
        <p:nvSpPr>
          <p:cNvPr id="6" name="object 6"/>
          <p:cNvSpPr/>
          <p:nvPr/>
        </p:nvSpPr>
        <p:spPr>
          <a:xfrm>
            <a:off x="3800475" y="5229225"/>
            <a:ext cx="723900" cy="619125"/>
          </a:xfrm>
          <a:custGeom>
            <a:avLst/>
            <a:gdLst/>
            <a:ahLst/>
            <a:cxnLst/>
            <a:rect l="l" t="t" r="r" b="b"/>
            <a:pathLst>
              <a:path w="723900" h="619125">
                <a:moveTo>
                  <a:pt x="569087" y="0"/>
                </a:moveTo>
                <a:lnTo>
                  <a:pt x="154812" y="0"/>
                </a:lnTo>
                <a:lnTo>
                  <a:pt x="0" y="309625"/>
                </a:lnTo>
                <a:lnTo>
                  <a:pt x="154812" y="619125"/>
                </a:lnTo>
                <a:lnTo>
                  <a:pt x="569087" y="619125"/>
                </a:lnTo>
                <a:lnTo>
                  <a:pt x="723900" y="309625"/>
                </a:lnTo>
                <a:lnTo>
                  <a:pt x="569087" y="0"/>
                </a:lnTo>
                <a:close/>
              </a:path>
            </a:pathLst>
          </a:custGeom>
          <a:solidFill>
            <a:srgbClr val="42AF51"/>
          </a:solidFill>
        </p:spPr>
        <p:txBody>
          <a:bodyPr wrap="square" lIns="0" tIns="0" rIns="0" bIns="0" rtlCol="0"/>
          <a:lstStyle/>
          <a:p>
            <a:endParaRPr/>
          </a:p>
        </p:txBody>
      </p:sp>
      <p:sp>
        <p:nvSpPr>
          <p:cNvPr id="7" name="object 7"/>
          <p:cNvSpPr txBox="1">
            <a:spLocks noGrp="1"/>
          </p:cNvSpPr>
          <p:nvPr>
            <p:ph type="ctrTitle"/>
          </p:nvPr>
        </p:nvSpPr>
        <p:spPr>
          <a:xfrm>
            <a:off x="1523999" y="19665"/>
            <a:ext cx="7629525" cy="1001556"/>
          </a:xfrm>
          <a:prstGeom prst="rect">
            <a:avLst/>
          </a:prstGeom>
        </p:spPr>
        <p:txBody>
          <a:bodyPr vert="horz" wrap="square" lIns="0" tIns="16510" rIns="0" bIns="0" rtlCol="0">
            <a:spAutoFit/>
          </a:bodyPr>
          <a:lstStyle/>
          <a:p>
            <a:pPr marL="3213735">
              <a:spcBef>
                <a:spcPts val="130"/>
              </a:spcBef>
            </a:pPr>
            <a:r>
              <a:rPr lang="en-US" b="1" i="0" dirty="0">
                <a:solidFill>
                  <a:srgbClr val="0F0F0F"/>
                </a:solidFill>
                <a:effectLst/>
                <a:latin typeface="Times New Roman" panose="02020603050405020304" pitchFamily="18" charset="0"/>
                <a:cs typeface="Times New Roman" panose="02020603050405020304" pitchFamily="18" charset="0"/>
              </a:rPr>
              <a:t>Digital Portfolio </a:t>
            </a:r>
            <a:r>
              <a:rPr lang="en-US" b="1" i="0" dirty="0">
                <a:solidFill>
                  <a:srgbClr val="0F0F0F"/>
                </a:solidFill>
                <a:effectLst/>
                <a:latin typeface="Roboto" panose="020F0502020204030204" pitchFamily="2" charset="0"/>
              </a:rPr>
              <a:t/>
            </a:r>
            <a:br>
              <a:rPr lang="en-US" b="1" i="0" dirty="0">
                <a:solidFill>
                  <a:srgbClr val="0F0F0F"/>
                </a:solidFill>
                <a:effectLst/>
                <a:latin typeface="Roboto" panose="020F0502020204030204" pitchFamily="2" charset="0"/>
              </a:rPr>
            </a:br>
            <a:endParaRPr spc="15" dirty="0"/>
          </a:p>
        </p:txBody>
      </p:sp>
      <p:pic>
        <p:nvPicPr>
          <p:cNvPr id="9" name="object 9"/>
          <p:cNvPicPr/>
          <p:nvPr/>
        </p:nvPicPr>
        <p:blipFill>
          <a:blip r:embed="rId3" cstate="print"/>
          <a:stretch>
            <a:fillRect/>
          </a:stretch>
        </p:blipFill>
        <p:spPr>
          <a:xfrm>
            <a:off x="676275" y="6467475"/>
            <a:ext cx="2143125" cy="200025"/>
          </a:xfrm>
          <a:prstGeom prst="rect">
            <a:avLst/>
          </a:prstGeom>
        </p:spPr>
      </p:pic>
      <p:sp>
        <p:nvSpPr>
          <p:cNvPr id="11" name="object 11"/>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1</a:t>
            </a:fld>
            <a:endParaRPr spc="10" dirty="0"/>
          </a:p>
        </p:txBody>
      </p:sp>
      <p:sp>
        <p:nvSpPr>
          <p:cNvPr id="14" name="TextBox 13">
            <a:extLst>
              <a:ext uri="{FF2B5EF4-FFF2-40B4-BE49-F238E27FC236}">
                <a16:creationId xmlns:a16="http://schemas.microsoft.com/office/drawing/2014/main" id="{D55ADE35-C35B-07C1-F5AA-C33B3DDB802E}"/>
              </a:ext>
              <a:ext uri="{C183D7F6-B498-43B3-948B-1728B52AA6E4}">
                <adec:decorative xmlns:adec="http://schemas.microsoft.com/office/drawing/2017/decorative" xmlns="" val="1"/>
              </a:ext>
            </a:extLst>
          </p:cNvPr>
          <p:cNvSpPr txBox="1"/>
          <p:nvPr/>
        </p:nvSpPr>
        <p:spPr>
          <a:xfrm>
            <a:off x="2554542" y="3314150"/>
            <a:ext cx="8610600" cy="2308324"/>
          </a:xfrm>
          <a:prstGeom prst="rect">
            <a:avLst/>
          </a:prstGeom>
          <a:noFill/>
        </p:spPr>
        <p:txBody>
          <a:bodyPr wrap="square" lIns="91440" tIns="45720" rIns="91440" bIns="45720" rtlCol="0" anchor="t">
            <a:spAutoFit/>
          </a:bodyPr>
          <a:lstStyle/>
          <a:p>
            <a:r>
              <a:rPr lang="en-US" sz="2400" dirty="0"/>
              <a:t>STUDENT NAME:</a:t>
            </a:r>
            <a:r>
              <a:rPr lang="en-IN" sz="2400" dirty="0"/>
              <a:t> </a:t>
            </a:r>
            <a:r>
              <a:rPr lang="en-IN" sz="2400" dirty="0" smtClean="0"/>
              <a:t>DHARANIDHARAN V S </a:t>
            </a:r>
            <a:endParaRPr lang="en-US" sz="2400" dirty="0"/>
          </a:p>
          <a:p>
            <a:r>
              <a:rPr lang="en-US" sz="2400" dirty="0"/>
              <a:t>REGISTER NO: 2422j</a:t>
            </a:r>
            <a:r>
              <a:rPr lang="en-IN" sz="2400" dirty="0"/>
              <a:t>0114</a:t>
            </a:r>
            <a:endParaRPr lang="en-US" sz="2400" dirty="0"/>
          </a:p>
          <a:p>
            <a:r>
              <a:rPr lang="en-US" sz="2400" dirty="0"/>
              <a:t>NMID: </a:t>
            </a:r>
            <a:r>
              <a:rPr lang="en-IN" sz="2400" dirty="0"/>
              <a:t>E6C234123A18B3FA8704E2EFC07F687C</a:t>
            </a:r>
            <a:endParaRPr lang="en-US" sz="2400" dirty="0">
              <a:cs typeface="Calibri"/>
            </a:endParaRPr>
          </a:p>
          <a:p>
            <a:r>
              <a:rPr lang="en-US" sz="2400" dirty="0"/>
              <a:t>DEPARTMENT: BCA</a:t>
            </a:r>
          </a:p>
          <a:p>
            <a:r>
              <a:rPr lang="en-US" sz="2400" dirty="0"/>
              <a:t>COLLEGE: KPR COLLEGE OF ARTS, SCIENCE AND RESEARCH</a:t>
            </a:r>
          </a:p>
          <a:p>
            <a:r>
              <a:rPr lang="en-US" sz="2400" dirty="0"/>
              <a:t>           </a:t>
            </a:r>
            <a:endParaRPr lang="en-IN"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24493" y="216857"/>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p:spPr>
        <p:style>
          <a:lnRef idx="2">
            <a:schemeClr val="dk1"/>
          </a:lnRef>
          <a:fillRef idx="1">
            <a:schemeClr val="lt1"/>
          </a:fillRef>
          <a:effectRef idx="0">
            <a:schemeClr val="dk1"/>
          </a:effectRef>
          <a:fontRef idx="minor">
            <a:schemeClr val="dk1"/>
          </a:fontRef>
        </p:style>
        <p:txBody>
          <a:bodyPr wrap="square" lIns="0" tIns="0" rIns="0" bIns="0" rtlCol="0"/>
          <a:lstStyle/>
          <a:p>
            <a:endParaRPr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grpSp>
        <p:nvGrpSpPr>
          <p:cNvPr id="3" name="object 3"/>
          <p:cNvGrpSpPr/>
          <p:nvPr/>
        </p:nvGrpSpPr>
        <p:grpSpPr>
          <a:xfrm>
            <a:off x="7443849" y="0"/>
            <a:ext cx="4752975" cy="6863080"/>
            <a:chOff x="7443849" y="0"/>
            <a:chExt cx="4752975" cy="6863080"/>
          </a:xfrm>
        </p:grpSpPr>
        <p:sp>
          <p:nvSpPr>
            <p:cNvPr id="4" name="object 4"/>
            <p:cNvSpPr/>
            <p:nvPr/>
          </p:nvSpPr>
          <p:spPr>
            <a:xfrm>
              <a:off x="9377426" y="4825"/>
              <a:ext cx="1218565" cy="6853555"/>
            </a:xfrm>
            <a:custGeom>
              <a:avLst/>
              <a:gdLst/>
              <a:ahLst/>
              <a:cxnLst/>
              <a:rect l="l" t="t" r="r" b="b"/>
              <a:pathLst>
                <a:path w="1218565" h="6853555">
                  <a:moveTo>
                    <a:pt x="0" y="0"/>
                  </a:moveTo>
                  <a:lnTo>
                    <a:pt x="1218352" y="6853171"/>
                  </a:lnTo>
                </a:path>
              </a:pathLst>
            </a:custGeom>
            <a:ln w="9525">
              <a:solidFill>
                <a:srgbClr val="5FCAEE"/>
              </a:solidFill>
            </a:ln>
          </p:spPr>
          <p:txBody>
            <a:bodyPr wrap="square" lIns="0" tIns="0" rIns="0" bIns="0" rtlCol="0"/>
            <a:lstStyle/>
            <a:p>
              <a:endParaRPr/>
            </a:p>
          </p:txBody>
        </p:sp>
        <p:sp>
          <p:nvSpPr>
            <p:cNvPr id="5" name="object 5"/>
            <p:cNvSpPr/>
            <p:nvPr/>
          </p:nvSpPr>
          <p:spPr>
            <a:xfrm>
              <a:off x="7448612" y="3694896"/>
              <a:ext cx="4743450" cy="3163570"/>
            </a:xfrm>
            <a:custGeom>
              <a:avLst/>
              <a:gdLst/>
              <a:ahLst/>
              <a:cxnLst/>
              <a:rect l="l" t="t" r="r" b="b"/>
              <a:pathLst>
                <a:path w="4743450" h="3163570">
                  <a:moveTo>
                    <a:pt x="4743387" y="0"/>
                  </a:moveTo>
                  <a:lnTo>
                    <a:pt x="0" y="3163101"/>
                  </a:lnTo>
                </a:path>
              </a:pathLst>
            </a:custGeom>
            <a:ln w="9525">
              <a:solidFill>
                <a:srgbClr val="5FCAEE"/>
              </a:solidFill>
            </a:ln>
          </p:spPr>
          <p:txBody>
            <a:bodyPr wrap="square" lIns="0" tIns="0" rIns="0" bIns="0" rtlCol="0"/>
            <a:lstStyle/>
            <a:p>
              <a:endParaRPr/>
            </a:p>
          </p:txBody>
        </p:sp>
        <p:sp>
          <p:nvSpPr>
            <p:cNvPr id="6" name="object 6"/>
            <p:cNvSpPr/>
            <p:nvPr/>
          </p:nvSpPr>
          <p:spPr>
            <a:xfrm>
              <a:off x="9182100" y="0"/>
              <a:ext cx="3009900" cy="6858000"/>
            </a:xfrm>
            <a:custGeom>
              <a:avLst/>
              <a:gdLst/>
              <a:ahLst/>
              <a:cxn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wrap="square" lIns="0" tIns="0" rIns="0" bIns="0" rtlCol="0"/>
            <a:lstStyle/>
            <a:p>
              <a:endParaRPr/>
            </a:p>
          </p:txBody>
        </p:sp>
        <p:sp>
          <p:nvSpPr>
            <p:cNvPr id="7" name="object 7"/>
            <p:cNvSpPr/>
            <p:nvPr/>
          </p:nvSpPr>
          <p:spPr>
            <a:xfrm>
              <a:off x="9602878" y="0"/>
              <a:ext cx="2589530" cy="6858000"/>
            </a:xfrm>
            <a:custGeom>
              <a:avLst/>
              <a:gdLst/>
              <a:ahLst/>
              <a:cxn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wrap="square" lIns="0" tIns="0" rIns="0" bIns="0" rtlCol="0"/>
            <a:lstStyle/>
            <a:p>
              <a:endParaRPr/>
            </a:p>
          </p:txBody>
        </p:sp>
        <p:sp>
          <p:nvSpPr>
            <p:cNvPr id="8" name="object 8"/>
            <p:cNvSpPr/>
            <p:nvPr/>
          </p:nvSpPr>
          <p:spPr>
            <a:xfrm>
              <a:off x="8934450" y="3048000"/>
              <a:ext cx="3257550" cy="3810000"/>
            </a:xfrm>
            <a:custGeom>
              <a:avLst/>
              <a:gdLst/>
              <a:ahLst/>
              <a:cxn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wrap="square" lIns="0" tIns="0" rIns="0" bIns="0" rtlCol="0"/>
            <a:lstStyle/>
            <a:p>
              <a:endParaRPr/>
            </a:p>
          </p:txBody>
        </p:sp>
        <p:sp>
          <p:nvSpPr>
            <p:cNvPr id="9" name="object 9"/>
            <p:cNvSpPr/>
            <p:nvPr/>
          </p:nvSpPr>
          <p:spPr>
            <a:xfrm>
              <a:off x="9337930" y="0"/>
              <a:ext cx="2854325" cy="6858000"/>
            </a:xfrm>
            <a:custGeom>
              <a:avLst/>
              <a:gdLst/>
              <a:ahLst/>
              <a:cxn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wrap="square" lIns="0" tIns="0" rIns="0" bIns="0" rtlCol="0"/>
            <a:lstStyle/>
            <a:p>
              <a:endParaRPr/>
            </a:p>
          </p:txBody>
        </p:sp>
        <p:sp>
          <p:nvSpPr>
            <p:cNvPr id="10" name="object 10"/>
            <p:cNvSpPr/>
            <p:nvPr/>
          </p:nvSpPr>
          <p:spPr>
            <a:xfrm>
              <a:off x="10896600" y="0"/>
              <a:ext cx="1295400" cy="6858000"/>
            </a:xfrm>
            <a:custGeom>
              <a:avLst/>
              <a:gdLst/>
              <a:ahLst/>
              <a:cxn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wrap="square" lIns="0" tIns="0" rIns="0" bIns="0" rtlCol="0"/>
            <a:lstStyle/>
            <a:p>
              <a:endParaRPr/>
            </a:p>
          </p:txBody>
        </p:sp>
        <p:sp>
          <p:nvSpPr>
            <p:cNvPr id="11" name="object 11"/>
            <p:cNvSpPr/>
            <p:nvPr/>
          </p:nvSpPr>
          <p:spPr>
            <a:xfrm>
              <a:off x="10936247" y="0"/>
              <a:ext cx="1256030" cy="6858000"/>
            </a:xfrm>
            <a:custGeom>
              <a:avLst/>
              <a:gdLst/>
              <a:ahLst/>
              <a:cxn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wrap="square" lIns="0" tIns="0" rIns="0" bIns="0" rtlCol="0"/>
            <a:lstStyle/>
            <a:p>
              <a:endParaRPr/>
            </a:p>
          </p:txBody>
        </p:sp>
        <p:sp>
          <p:nvSpPr>
            <p:cNvPr id="12" name="object 12"/>
            <p:cNvSpPr/>
            <p:nvPr/>
          </p:nvSpPr>
          <p:spPr>
            <a:xfrm>
              <a:off x="10372725" y="3590925"/>
              <a:ext cx="1819275" cy="3267075"/>
            </a:xfrm>
            <a:custGeom>
              <a:avLst/>
              <a:gdLst/>
              <a:ahLst/>
              <a:cxn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wrap="square" lIns="0" tIns="0" rIns="0" bIns="0" rtlCol="0"/>
            <a:lstStyle/>
            <a:p>
              <a:endParaRPr/>
            </a:p>
          </p:txBody>
        </p:sp>
      </p:grpSp>
      <p:sp>
        <p:nvSpPr>
          <p:cNvPr id="13" name="object 13"/>
          <p:cNvSpPr/>
          <p:nvPr/>
        </p:nvSpPr>
        <p:spPr>
          <a:xfrm>
            <a:off x="0" y="4010025"/>
            <a:ext cx="447675" cy="2847975"/>
          </a:xfrm>
          <a:custGeom>
            <a:avLst/>
            <a:gdLst/>
            <a:ahLst/>
            <a:cxn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wrap="square" lIns="0" tIns="0" rIns="0" bIns="0" rtlCol="0"/>
          <a:lstStyle/>
          <a:p>
            <a:endParaRPr/>
          </a:p>
        </p:txBody>
      </p:sp>
      <p:sp>
        <p:nvSpPr>
          <p:cNvPr id="14" name="object 14"/>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15" name="object 15"/>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16" name="object 16"/>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sp>
        <p:nvSpPr>
          <p:cNvPr id="17" name="object 17"/>
          <p:cNvSpPr txBox="1">
            <a:spLocks noGrp="1"/>
          </p:cNvSpPr>
          <p:nvPr>
            <p:ph type="title"/>
          </p:nvPr>
        </p:nvSpPr>
        <p:spPr>
          <a:xfrm>
            <a:off x="739775" y="829627"/>
            <a:ext cx="7854419" cy="5271956"/>
          </a:xfrm>
          <a:prstGeom prst="rect">
            <a:avLst/>
          </a:prstGeom>
        </p:spPr>
        <p:txBody>
          <a:bodyPr vert="horz" wrap="square" lIns="0" tIns="16510" rIns="0" bIns="0" rtlCol="0">
            <a:spAutoFit/>
          </a:bodyPr>
          <a:lstStyle/>
          <a:p>
            <a:pPr marL="12700" lvl="8">
              <a:spcBef>
                <a:spcPts val="130"/>
              </a:spcBef>
            </a:pPr>
            <a:r>
              <a:rPr sz="4250" spc="5" dirty="0"/>
              <a:t>PROJECT</a:t>
            </a:r>
            <a:r>
              <a:rPr sz="4250" spc="-85" dirty="0"/>
              <a:t> </a:t>
            </a:r>
            <a:r>
              <a:rPr sz="4250" spc="25" dirty="0"/>
              <a:t>TITLE</a:t>
            </a:r>
            <a:r>
              <a:rPr lang="en-US" sz="4250" spc="25" dirty="0"/>
              <a:t>:</a:t>
            </a:r>
            <a:br>
              <a:rPr lang="en-US" sz="4250" spc="25" dirty="0"/>
            </a:br>
            <a:r>
              <a:rPr lang="en-US" sz="4250" spc="25" dirty="0"/>
              <a:t/>
            </a:r>
            <a:br>
              <a:rPr lang="en-US" sz="4250" spc="25" dirty="0"/>
            </a:br>
            <a:r>
              <a:rPr lang="en-US" sz="4250" spc="25" dirty="0"/>
              <a:t/>
            </a:r>
            <a:br>
              <a:rPr lang="en-US" sz="4250" spc="25" dirty="0"/>
            </a:br>
            <a:r>
              <a:rPr kumimoji="0" lang="en-US" sz="4400" b="0" i="0" u="none" strike="noStrike" cap="none" normalizeH="0" baseline="0" dirty="0">
                <a:ln>
                  <a:noFill/>
                </a:ln>
                <a:solidFill>
                  <a:schemeClr val="tx1"/>
                </a:solidFill>
                <a:effectLst/>
                <a:latin typeface="Arial" panose="020B0604020202020204" pitchFamily="34" charset="0"/>
              </a:rPr>
              <a:t>Web Development Portfolio</a:t>
            </a:r>
            <a:br>
              <a:rPr kumimoji="0" lang="en-US" sz="4400" b="0" i="0" u="none" strike="noStrike" cap="none" normalizeH="0" baseline="0" dirty="0">
                <a:ln>
                  <a:noFill/>
                </a:ln>
                <a:solidFill>
                  <a:schemeClr val="tx1"/>
                </a:solidFill>
                <a:effectLst/>
                <a:latin typeface="Arial" panose="020B0604020202020204" pitchFamily="34" charset="0"/>
              </a:rPr>
            </a:br>
            <a:r>
              <a:rPr lang="en-US" sz="4250" spc="25" dirty="0"/>
              <a:t/>
            </a:r>
            <a:br>
              <a:rPr lang="en-US" sz="4250" spc="25" dirty="0"/>
            </a:br>
            <a:r>
              <a:rPr lang="en-US" sz="4250" spc="25" dirty="0"/>
              <a:t/>
            </a:r>
            <a:br>
              <a:rPr lang="en-US" sz="4250" spc="25" dirty="0"/>
            </a:br>
            <a:r>
              <a:rPr lang="en-US" sz="4250" spc="25" dirty="0"/>
              <a:t/>
            </a:r>
            <a:br>
              <a:rPr lang="en-US" sz="4250" spc="25" dirty="0"/>
            </a:br>
            <a:endParaRPr sz="4250" dirty="0"/>
          </a:p>
        </p:txBody>
      </p:sp>
      <p:grpSp>
        <p:nvGrpSpPr>
          <p:cNvPr id="18" name="object 18"/>
          <p:cNvGrpSpPr/>
          <p:nvPr/>
        </p:nvGrpSpPr>
        <p:grpSpPr>
          <a:xfrm>
            <a:off x="466725" y="6410325"/>
            <a:ext cx="3705225" cy="295275"/>
            <a:chOff x="466725" y="6410325"/>
            <a:chExt cx="3705225" cy="295275"/>
          </a:xfrm>
        </p:grpSpPr>
        <p:pic>
          <p:nvPicPr>
            <p:cNvPr id="19" name="object 19"/>
            <p:cNvPicPr/>
            <p:nvPr/>
          </p:nvPicPr>
          <p:blipFill>
            <a:blip r:embed="rId2" cstate="print"/>
            <a:stretch>
              <a:fillRect/>
            </a:stretch>
          </p:blipFill>
          <p:spPr>
            <a:xfrm>
              <a:off x="676275" y="6467475"/>
              <a:ext cx="2143125" cy="200025"/>
            </a:xfrm>
            <a:prstGeom prst="rect">
              <a:avLst/>
            </a:prstGeom>
          </p:spPr>
        </p:pic>
        <p:pic>
          <p:nvPicPr>
            <p:cNvPr id="20" name="object 20"/>
            <p:cNvPicPr/>
            <p:nvPr/>
          </p:nvPicPr>
          <p:blipFill>
            <a:blip r:embed="rId3" cstate="print"/>
            <a:stretch>
              <a:fillRect/>
            </a:stretch>
          </p:blipFill>
          <p:spPr>
            <a:xfrm>
              <a:off x="466725" y="6410325"/>
              <a:ext cx="3705225" cy="295275"/>
            </a:xfrm>
            <a:prstGeom prst="rect">
              <a:avLst/>
            </a:prstGeom>
          </p:spPr>
        </p:pic>
      </p:grpSp>
      <p:sp>
        <p:nvSpPr>
          <p:cNvPr id="22" name="object 22"/>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2</a:t>
            </a:fld>
            <a:endParaRPr spc="10" dirty="0"/>
          </a:p>
        </p:txBody>
      </p:sp>
      <p:sp>
        <p:nvSpPr>
          <p:cNvPr id="21" name="Rectangle 1"/>
          <p:cNvSpPr>
            <a:spLocks noChangeArrowheads="1"/>
          </p:cNvSpPr>
          <p:nvPr/>
        </p:nvSpPr>
        <p:spPr bwMode="auto">
          <a:xfrm>
            <a:off x="640470" y="3758959"/>
            <a:ext cx="726352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sz="3600" b="0" i="0" u="none" strike="noStrike" cap="none" normalizeH="0" baseline="0" dirty="0">
                <a:ln>
                  <a:noFill/>
                </a:ln>
                <a:solidFill>
                  <a:schemeClr val="tx1"/>
                </a:solidFill>
                <a:effectLst/>
                <a:latin typeface="Arial" panose="020B0604020202020204" pitchFamily="34" charset="0"/>
              </a:rPr>
              <a:t>Using HTML, CSS, and JavaScript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76200" y="28579"/>
            <a:ext cx="12481713"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1F1F1"/>
          </a:solidFill>
        </p:spPr>
        <p:txBody>
          <a:bodyPr wrap="square" lIns="0" tIns="0" rIns="0" bIns="0" rtlCol="0"/>
          <a:lstStyle/>
          <a:p>
            <a:endParaRPr dirty="0"/>
          </a:p>
        </p:txBody>
      </p:sp>
      <p:grpSp>
        <p:nvGrpSpPr>
          <p:cNvPr id="3" name="object 3"/>
          <p:cNvGrpSpPr/>
          <p:nvPr/>
        </p:nvGrpSpPr>
        <p:grpSpPr>
          <a:xfrm>
            <a:off x="7443849" y="0"/>
            <a:ext cx="4752975" cy="6863080"/>
            <a:chOff x="7443849" y="0"/>
            <a:chExt cx="4752975" cy="6863080"/>
          </a:xfrm>
        </p:grpSpPr>
        <p:sp>
          <p:nvSpPr>
            <p:cNvPr id="4" name="object 4"/>
            <p:cNvSpPr/>
            <p:nvPr/>
          </p:nvSpPr>
          <p:spPr>
            <a:xfrm>
              <a:off x="9377426" y="4825"/>
              <a:ext cx="1218565" cy="6853555"/>
            </a:xfrm>
            <a:custGeom>
              <a:avLst/>
              <a:gdLst/>
              <a:ahLst/>
              <a:cxnLst/>
              <a:rect l="l" t="t" r="r" b="b"/>
              <a:pathLst>
                <a:path w="1218565" h="6853555">
                  <a:moveTo>
                    <a:pt x="0" y="0"/>
                  </a:moveTo>
                  <a:lnTo>
                    <a:pt x="1218352" y="6853171"/>
                  </a:lnTo>
                </a:path>
              </a:pathLst>
            </a:custGeom>
            <a:ln w="9525">
              <a:solidFill>
                <a:srgbClr val="5FCAEE"/>
              </a:solidFill>
            </a:ln>
          </p:spPr>
          <p:txBody>
            <a:bodyPr wrap="square" lIns="0" tIns="0" rIns="0" bIns="0" rtlCol="0"/>
            <a:lstStyle/>
            <a:p>
              <a:endParaRPr/>
            </a:p>
          </p:txBody>
        </p:sp>
        <p:sp>
          <p:nvSpPr>
            <p:cNvPr id="5" name="object 5"/>
            <p:cNvSpPr/>
            <p:nvPr/>
          </p:nvSpPr>
          <p:spPr>
            <a:xfrm>
              <a:off x="7448612" y="3694896"/>
              <a:ext cx="4743450" cy="3163570"/>
            </a:xfrm>
            <a:custGeom>
              <a:avLst/>
              <a:gdLst/>
              <a:ahLst/>
              <a:cxnLst/>
              <a:rect l="l" t="t" r="r" b="b"/>
              <a:pathLst>
                <a:path w="4743450" h="3163570">
                  <a:moveTo>
                    <a:pt x="4743387" y="0"/>
                  </a:moveTo>
                  <a:lnTo>
                    <a:pt x="0" y="3163101"/>
                  </a:lnTo>
                </a:path>
              </a:pathLst>
            </a:custGeom>
            <a:ln w="9525">
              <a:solidFill>
                <a:srgbClr val="5FCAEE"/>
              </a:solidFill>
            </a:ln>
          </p:spPr>
          <p:txBody>
            <a:bodyPr wrap="square" lIns="0" tIns="0" rIns="0" bIns="0" rtlCol="0"/>
            <a:lstStyle/>
            <a:p>
              <a:endParaRPr/>
            </a:p>
          </p:txBody>
        </p:sp>
        <p:sp>
          <p:nvSpPr>
            <p:cNvPr id="6" name="object 6"/>
            <p:cNvSpPr/>
            <p:nvPr/>
          </p:nvSpPr>
          <p:spPr>
            <a:xfrm>
              <a:off x="9182100" y="0"/>
              <a:ext cx="3009900" cy="6858000"/>
            </a:xfrm>
            <a:custGeom>
              <a:avLst/>
              <a:gdLst/>
              <a:ahLst/>
              <a:cxn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wrap="square" lIns="0" tIns="0" rIns="0" bIns="0" rtlCol="0"/>
            <a:lstStyle/>
            <a:p>
              <a:endParaRPr/>
            </a:p>
          </p:txBody>
        </p:sp>
        <p:sp>
          <p:nvSpPr>
            <p:cNvPr id="7" name="object 7"/>
            <p:cNvSpPr/>
            <p:nvPr/>
          </p:nvSpPr>
          <p:spPr>
            <a:xfrm>
              <a:off x="9602878" y="0"/>
              <a:ext cx="2589530" cy="6858000"/>
            </a:xfrm>
            <a:custGeom>
              <a:avLst/>
              <a:gdLst/>
              <a:ahLst/>
              <a:cxn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wrap="square" lIns="0" tIns="0" rIns="0" bIns="0" rtlCol="0"/>
            <a:lstStyle/>
            <a:p>
              <a:endParaRPr/>
            </a:p>
          </p:txBody>
        </p:sp>
        <p:sp>
          <p:nvSpPr>
            <p:cNvPr id="8" name="object 8"/>
            <p:cNvSpPr/>
            <p:nvPr/>
          </p:nvSpPr>
          <p:spPr>
            <a:xfrm>
              <a:off x="8934450" y="3048000"/>
              <a:ext cx="3257550" cy="3810000"/>
            </a:xfrm>
            <a:custGeom>
              <a:avLst/>
              <a:gdLst/>
              <a:ahLst/>
              <a:cxn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wrap="square" lIns="0" tIns="0" rIns="0" bIns="0" rtlCol="0"/>
            <a:lstStyle/>
            <a:p>
              <a:endParaRPr/>
            </a:p>
          </p:txBody>
        </p:sp>
        <p:sp>
          <p:nvSpPr>
            <p:cNvPr id="9" name="object 9"/>
            <p:cNvSpPr/>
            <p:nvPr/>
          </p:nvSpPr>
          <p:spPr>
            <a:xfrm>
              <a:off x="9337930" y="0"/>
              <a:ext cx="2854325" cy="6858000"/>
            </a:xfrm>
            <a:custGeom>
              <a:avLst/>
              <a:gdLst/>
              <a:ahLst/>
              <a:cxn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wrap="square" lIns="0" tIns="0" rIns="0" bIns="0" rtlCol="0"/>
            <a:lstStyle/>
            <a:p>
              <a:endParaRPr/>
            </a:p>
          </p:txBody>
        </p:sp>
        <p:sp>
          <p:nvSpPr>
            <p:cNvPr id="10" name="object 10"/>
            <p:cNvSpPr/>
            <p:nvPr/>
          </p:nvSpPr>
          <p:spPr>
            <a:xfrm>
              <a:off x="10896600" y="0"/>
              <a:ext cx="1295400" cy="6858000"/>
            </a:xfrm>
            <a:custGeom>
              <a:avLst/>
              <a:gdLst/>
              <a:ahLst/>
              <a:cxn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wrap="square" lIns="0" tIns="0" rIns="0" bIns="0" rtlCol="0"/>
            <a:lstStyle/>
            <a:p>
              <a:endParaRPr/>
            </a:p>
          </p:txBody>
        </p:sp>
        <p:sp>
          <p:nvSpPr>
            <p:cNvPr id="11" name="object 11"/>
            <p:cNvSpPr/>
            <p:nvPr/>
          </p:nvSpPr>
          <p:spPr>
            <a:xfrm>
              <a:off x="10936247" y="0"/>
              <a:ext cx="1256030" cy="6858000"/>
            </a:xfrm>
            <a:custGeom>
              <a:avLst/>
              <a:gdLst/>
              <a:ahLst/>
              <a:cxn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wrap="square" lIns="0" tIns="0" rIns="0" bIns="0" rtlCol="0"/>
            <a:lstStyle/>
            <a:p>
              <a:endParaRPr/>
            </a:p>
          </p:txBody>
        </p:sp>
        <p:sp>
          <p:nvSpPr>
            <p:cNvPr id="12" name="object 12"/>
            <p:cNvSpPr/>
            <p:nvPr/>
          </p:nvSpPr>
          <p:spPr>
            <a:xfrm>
              <a:off x="10372725" y="3590925"/>
              <a:ext cx="1819275" cy="3267075"/>
            </a:xfrm>
            <a:custGeom>
              <a:avLst/>
              <a:gdLst/>
              <a:ahLst/>
              <a:cxn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wrap="square" lIns="0" tIns="0" rIns="0" bIns="0" rtlCol="0"/>
            <a:lstStyle/>
            <a:p>
              <a:endParaRPr/>
            </a:p>
          </p:txBody>
        </p:sp>
      </p:grpSp>
      <p:sp>
        <p:nvSpPr>
          <p:cNvPr id="13" name="object 13"/>
          <p:cNvSpPr/>
          <p:nvPr/>
        </p:nvSpPr>
        <p:spPr>
          <a:xfrm>
            <a:off x="0" y="4010025"/>
            <a:ext cx="447675" cy="2847975"/>
          </a:xfrm>
          <a:custGeom>
            <a:avLst/>
            <a:gdLst/>
            <a:ahLst/>
            <a:cxn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wrap="square" lIns="0" tIns="0" rIns="0" bIns="0" rtlCol="0"/>
          <a:lstStyle/>
          <a:p>
            <a:endParaRPr/>
          </a:p>
        </p:txBody>
      </p:sp>
      <p:sp>
        <p:nvSpPr>
          <p:cNvPr id="14" name="object 14"/>
          <p:cNvSpPr txBox="1"/>
          <p:nvPr/>
        </p:nvSpPr>
        <p:spPr>
          <a:xfrm>
            <a:off x="752475" y="6486037"/>
            <a:ext cx="1773555" cy="166370"/>
          </a:xfrm>
          <a:prstGeom prst="rect">
            <a:avLst/>
          </a:prstGeom>
        </p:spPr>
        <p:txBody>
          <a:bodyPr vert="horz" wrap="square" lIns="0" tIns="0" rIns="0" bIns="0" rtlCol="0">
            <a:spAutoFit/>
          </a:bodyPr>
          <a:lstStyle/>
          <a:p>
            <a:pPr>
              <a:lnSpc>
                <a:spcPts val="1275"/>
              </a:lnSpc>
            </a:pPr>
            <a:r>
              <a:rPr sz="1100" spc="20" dirty="0">
                <a:solidFill>
                  <a:srgbClr val="2D83C3"/>
                </a:solidFill>
                <a:latin typeface="Trebuchet MS"/>
                <a:cs typeface="Trebuchet MS"/>
              </a:rPr>
              <a:t>3/21/202</a:t>
            </a:r>
            <a:r>
              <a:rPr sz="1100" spc="10" dirty="0">
                <a:solidFill>
                  <a:srgbClr val="2D83C3"/>
                </a:solidFill>
                <a:latin typeface="Trebuchet MS"/>
                <a:cs typeface="Trebuchet MS"/>
              </a:rPr>
              <a:t>4</a:t>
            </a:r>
            <a:r>
              <a:rPr sz="1100" dirty="0">
                <a:solidFill>
                  <a:srgbClr val="2D83C3"/>
                </a:solidFill>
                <a:latin typeface="Trebuchet MS"/>
                <a:cs typeface="Trebuchet MS"/>
              </a:rPr>
              <a:t> </a:t>
            </a:r>
            <a:r>
              <a:rPr sz="1100" spc="130" dirty="0">
                <a:solidFill>
                  <a:srgbClr val="2D83C3"/>
                </a:solidFill>
                <a:latin typeface="Trebuchet MS"/>
                <a:cs typeface="Trebuchet MS"/>
              </a:rPr>
              <a:t> </a:t>
            </a:r>
            <a:r>
              <a:rPr sz="1100" b="1" spc="50" dirty="0">
                <a:solidFill>
                  <a:srgbClr val="2D83C3"/>
                </a:solidFill>
                <a:latin typeface="Trebuchet MS"/>
                <a:cs typeface="Trebuchet MS"/>
              </a:rPr>
              <a:t>A</a:t>
            </a:r>
            <a:r>
              <a:rPr sz="1100" b="1" spc="15" dirty="0">
                <a:solidFill>
                  <a:srgbClr val="2D83C3"/>
                </a:solidFill>
                <a:latin typeface="Trebuchet MS"/>
                <a:cs typeface="Trebuchet MS"/>
              </a:rPr>
              <a:t>nnu</a:t>
            </a:r>
            <a:r>
              <a:rPr sz="1100" b="1" spc="10" dirty="0">
                <a:solidFill>
                  <a:srgbClr val="2D83C3"/>
                </a:solidFill>
                <a:latin typeface="Trebuchet MS"/>
                <a:cs typeface="Trebuchet MS"/>
              </a:rPr>
              <a:t>al</a:t>
            </a:r>
            <a:r>
              <a:rPr sz="1100" b="1" spc="-140" dirty="0">
                <a:solidFill>
                  <a:srgbClr val="2D83C3"/>
                </a:solidFill>
                <a:latin typeface="Trebuchet MS"/>
                <a:cs typeface="Trebuchet MS"/>
              </a:rPr>
              <a:t> </a:t>
            </a:r>
            <a:r>
              <a:rPr sz="1100" b="1" dirty="0">
                <a:solidFill>
                  <a:srgbClr val="2D83C3"/>
                </a:solidFill>
                <a:latin typeface="Trebuchet MS"/>
                <a:cs typeface="Trebuchet MS"/>
              </a:rPr>
              <a:t>R</a:t>
            </a:r>
            <a:r>
              <a:rPr sz="1100" b="1" spc="35" dirty="0">
                <a:solidFill>
                  <a:srgbClr val="2D83C3"/>
                </a:solidFill>
                <a:latin typeface="Trebuchet MS"/>
                <a:cs typeface="Trebuchet MS"/>
              </a:rPr>
              <a:t>e</a:t>
            </a:r>
            <a:r>
              <a:rPr sz="1100" b="1" spc="90" dirty="0">
                <a:solidFill>
                  <a:srgbClr val="2D83C3"/>
                </a:solidFill>
                <a:latin typeface="Trebuchet MS"/>
                <a:cs typeface="Trebuchet MS"/>
              </a:rPr>
              <a:t>v</a:t>
            </a:r>
            <a:r>
              <a:rPr sz="1100" b="1" spc="-35" dirty="0">
                <a:solidFill>
                  <a:srgbClr val="2D83C3"/>
                </a:solidFill>
                <a:latin typeface="Trebuchet MS"/>
                <a:cs typeface="Trebuchet MS"/>
              </a:rPr>
              <a:t>i</a:t>
            </a:r>
            <a:r>
              <a:rPr sz="1100" b="1" spc="35" dirty="0">
                <a:solidFill>
                  <a:srgbClr val="2D83C3"/>
                </a:solidFill>
                <a:latin typeface="Trebuchet MS"/>
                <a:cs typeface="Trebuchet MS"/>
              </a:rPr>
              <a:t>e</a:t>
            </a:r>
            <a:r>
              <a:rPr sz="1100" b="1" spc="15" dirty="0">
                <a:solidFill>
                  <a:srgbClr val="2D83C3"/>
                </a:solidFill>
                <a:latin typeface="Trebuchet MS"/>
                <a:cs typeface="Trebuchet MS"/>
              </a:rPr>
              <a:t>w</a:t>
            </a:r>
            <a:endParaRPr sz="1100">
              <a:latin typeface="Trebuchet MS"/>
              <a:cs typeface="Trebuchet MS"/>
            </a:endParaRPr>
          </a:p>
        </p:txBody>
      </p:sp>
      <p:sp>
        <p:nvSpPr>
          <p:cNvPr id="15" name="object 15"/>
          <p:cNvSpPr/>
          <p:nvPr/>
        </p:nvSpPr>
        <p:spPr>
          <a:xfrm>
            <a:off x="7362825" y="447675"/>
            <a:ext cx="361950" cy="361950"/>
          </a:xfrm>
          <a:custGeom>
            <a:avLst/>
            <a:gdLst/>
            <a:ahLst/>
            <a:cxnLst/>
            <a:rect l="l" t="t" r="r" b="b"/>
            <a:pathLst>
              <a:path w="361950" h="361950">
                <a:moveTo>
                  <a:pt x="180975" y="0"/>
                </a:moveTo>
                <a:lnTo>
                  <a:pt x="132864" y="6464"/>
                </a:lnTo>
                <a:lnTo>
                  <a:pt x="89633" y="24708"/>
                </a:lnTo>
                <a:lnTo>
                  <a:pt x="53006" y="53006"/>
                </a:lnTo>
                <a:lnTo>
                  <a:pt x="24708" y="89633"/>
                </a:lnTo>
                <a:lnTo>
                  <a:pt x="6464" y="132864"/>
                </a:lnTo>
                <a:lnTo>
                  <a:pt x="0" y="180975"/>
                </a:lnTo>
                <a:lnTo>
                  <a:pt x="6464" y="229085"/>
                </a:lnTo>
                <a:lnTo>
                  <a:pt x="24708" y="272316"/>
                </a:lnTo>
                <a:lnTo>
                  <a:pt x="53006" y="308943"/>
                </a:lnTo>
                <a:lnTo>
                  <a:pt x="89633" y="337241"/>
                </a:lnTo>
                <a:lnTo>
                  <a:pt x="132864" y="355485"/>
                </a:lnTo>
                <a:lnTo>
                  <a:pt x="180975" y="361950"/>
                </a:lnTo>
                <a:lnTo>
                  <a:pt x="229085" y="355485"/>
                </a:lnTo>
                <a:lnTo>
                  <a:pt x="272316" y="337241"/>
                </a:lnTo>
                <a:lnTo>
                  <a:pt x="308943" y="308943"/>
                </a:lnTo>
                <a:lnTo>
                  <a:pt x="337241" y="272316"/>
                </a:lnTo>
                <a:lnTo>
                  <a:pt x="355485" y="229085"/>
                </a:lnTo>
                <a:lnTo>
                  <a:pt x="361950" y="180975"/>
                </a:lnTo>
                <a:lnTo>
                  <a:pt x="355485" y="132864"/>
                </a:lnTo>
                <a:lnTo>
                  <a:pt x="337241" y="89633"/>
                </a:lnTo>
                <a:lnTo>
                  <a:pt x="308943" y="53006"/>
                </a:lnTo>
                <a:lnTo>
                  <a:pt x="272316" y="24708"/>
                </a:lnTo>
                <a:lnTo>
                  <a:pt x="229085" y="6464"/>
                </a:lnTo>
                <a:lnTo>
                  <a:pt x="180975" y="0"/>
                </a:lnTo>
                <a:close/>
              </a:path>
            </a:pathLst>
          </a:custGeom>
          <a:solidFill>
            <a:srgbClr val="EBEBEB"/>
          </a:solidFill>
        </p:spPr>
        <p:txBody>
          <a:bodyPr wrap="square" lIns="0" tIns="0" rIns="0" bIns="0" rtlCol="0"/>
          <a:lstStyle/>
          <a:p>
            <a:endParaRPr/>
          </a:p>
        </p:txBody>
      </p:sp>
      <p:sp>
        <p:nvSpPr>
          <p:cNvPr id="16" name="object 16"/>
          <p:cNvSpPr/>
          <p:nvPr/>
        </p:nvSpPr>
        <p:spPr>
          <a:xfrm>
            <a:off x="11010900" y="5610225"/>
            <a:ext cx="647700" cy="647700"/>
          </a:xfrm>
          <a:custGeom>
            <a:avLst/>
            <a:gdLst/>
            <a:ahLst/>
            <a:cxnLst/>
            <a:rect l="l" t="t" r="r" b="b"/>
            <a:pathLst>
              <a:path w="647700" h="647700">
                <a:moveTo>
                  <a:pt x="323850" y="0"/>
                </a:moveTo>
                <a:lnTo>
                  <a:pt x="276003" y="3511"/>
                </a:lnTo>
                <a:lnTo>
                  <a:pt x="230332" y="13711"/>
                </a:lnTo>
                <a:lnTo>
                  <a:pt x="187340" y="30099"/>
                </a:lnTo>
                <a:lnTo>
                  <a:pt x="147528" y="52175"/>
                </a:lnTo>
                <a:lnTo>
                  <a:pt x="111397" y="79436"/>
                </a:lnTo>
                <a:lnTo>
                  <a:pt x="79448" y="111381"/>
                </a:lnTo>
                <a:lnTo>
                  <a:pt x="52184" y="147511"/>
                </a:lnTo>
                <a:lnTo>
                  <a:pt x="30106" y="187324"/>
                </a:lnTo>
                <a:lnTo>
                  <a:pt x="13714" y="230319"/>
                </a:lnTo>
                <a:lnTo>
                  <a:pt x="3512" y="275994"/>
                </a:lnTo>
                <a:lnTo>
                  <a:pt x="0" y="323850"/>
                </a:lnTo>
                <a:lnTo>
                  <a:pt x="3512" y="371705"/>
                </a:lnTo>
                <a:lnTo>
                  <a:pt x="13714" y="417380"/>
                </a:lnTo>
                <a:lnTo>
                  <a:pt x="30106" y="460375"/>
                </a:lnTo>
                <a:lnTo>
                  <a:pt x="52184" y="500188"/>
                </a:lnTo>
                <a:lnTo>
                  <a:pt x="79448" y="536318"/>
                </a:lnTo>
                <a:lnTo>
                  <a:pt x="111397" y="568263"/>
                </a:lnTo>
                <a:lnTo>
                  <a:pt x="147528" y="595524"/>
                </a:lnTo>
                <a:lnTo>
                  <a:pt x="187340" y="617600"/>
                </a:lnTo>
                <a:lnTo>
                  <a:pt x="230332" y="633988"/>
                </a:lnTo>
                <a:lnTo>
                  <a:pt x="276003" y="644188"/>
                </a:lnTo>
                <a:lnTo>
                  <a:pt x="323850" y="647700"/>
                </a:lnTo>
                <a:lnTo>
                  <a:pt x="371696" y="644188"/>
                </a:lnTo>
                <a:lnTo>
                  <a:pt x="417367" y="633988"/>
                </a:lnTo>
                <a:lnTo>
                  <a:pt x="460359" y="617600"/>
                </a:lnTo>
                <a:lnTo>
                  <a:pt x="500171" y="595524"/>
                </a:lnTo>
                <a:lnTo>
                  <a:pt x="536302" y="568263"/>
                </a:lnTo>
                <a:lnTo>
                  <a:pt x="568251" y="536318"/>
                </a:lnTo>
                <a:lnTo>
                  <a:pt x="595515" y="500188"/>
                </a:lnTo>
                <a:lnTo>
                  <a:pt x="617593" y="460375"/>
                </a:lnTo>
                <a:lnTo>
                  <a:pt x="633985" y="417380"/>
                </a:lnTo>
                <a:lnTo>
                  <a:pt x="644187" y="371705"/>
                </a:lnTo>
                <a:lnTo>
                  <a:pt x="647700" y="323850"/>
                </a:lnTo>
                <a:lnTo>
                  <a:pt x="644187" y="275994"/>
                </a:lnTo>
                <a:lnTo>
                  <a:pt x="633985" y="230319"/>
                </a:lnTo>
                <a:lnTo>
                  <a:pt x="617593" y="187324"/>
                </a:lnTo>
                <a:lnTo>
                  <a:pt x="595515" y="147511"/>
                </a:lnTo>
                <a:lnTo>
                  <a:pt x="568251" y="111381"/>
                </a:lnTo>
                <a:lnTo>
                  <a:pt x="536302" y="79436"/>
                </a:lnTo>
                <a:lnTo>
                  <a:pt x="500171" y="52175"/>
                </a:lnTo>
                <a:lnTo>
                  <a:pt x="460359" y="30099"/>
                </a:lnTo>
                <a:lnTo>
                  <a:pt x="417367" y="13711"/>
                </a:lnTo>
                <a:lnTo>
                  <a:pt x="371696" y="3511"/>
                </a:lnTo>
                <a:lnTo>
                  <a:pt x="323850" y="0"/>
                </a:lnTo>
                <a:close/>
              </a:path>
            </a:pathLst>
          </a:custGeom>
          <a:solidFill>
            <a:srgbClr val="2D83C3"/>
          </a:solidFill>
        </p:spPr>
        <p:txBody>
          <a:bodyPr wrap="square" lIns="0" tIns="0" rIns="0" bIns="0" rtlCol="0"/>
          <a:lstStyle/>
          <a:p>
            <a:endParaRPr/>
          </a:p>
        </p:txBody>
      </p:sp>
      <p:pic>
        <p:nvPicPr>
          <p:cNvPr id="17" name="object 17"/>
          <p:cNvPicPr/>
          <p:nvPr/>
        </p:nvPicPr>
        <p:blipFill>
          <a:blip r:embed="rId2" cstate="print"/>
          <a:stretch>
            <a:fillRect/>
          </a:stretch>
        </p:blipFill>
        <p:spPr>
          <a:xfrm>
            <a:off x="10687050" y="6134100"/>
            <a:ext cx="247650" cy="247650"/>
          </a:xfrm>
          <a:prstGeom prst="rect">
            <a:avLst/>
          </a:prstGeom>
        </p:spPr>
      </p:pic>
      <p:grpSp>
        <p:nvGrpSpPr>
          <p:cNvPr id="18" name="object 18"/>
          <p:cNvGrpSpPr/>
          <p:nvPr/>
        </p:nvGrpSpPr>
        <p:grpSpPr>
          <a:xfrm>
            <a:off x="47625" y="3819523"/>
            <a:ext cx="4124325" cy="3009900"/>
            <a:chOff x="47625" y="3819523"/>
            <a:chExt cx="4124325" cy="3009900"/>
          </a:xfrm>
        </p:grpSpPr>
        <p:pic>
          <p:nvPicPr>
            <p:cNvPr id="19" name="object 19"/>
            <p:cNvPicPr/>
            <p:nvPr/>
          </p:nvPicPr>
          <p:blipFill>
            <a:blip r:embed="rId3" cstate="print"/>
            <a:stretch>
              <a:fillRect/>
            </a:stretch>
          </p:blipFill>
          <p:spPr>
            <a:xfrm>
              <a:off x="466725" y="6410325"/>
              <a:ext cx="3705225" cy="295275"/>
            </a:xfrm>
            <a:prstGeom prst="rect">
              <a:avLst/>
            </a:prstGeom>
          </p:spPr>
        </p:pic>
        <p:pic>
          <p:nvPicPr>
            <p:cNvPr id="20" name="object 20"/>
            <p:cNvPicPr/>
            <p:nvPr/>
          </p:nvPicPr>
          <p:blipFill>
            <a:blip r:embed="rId4" cstate="print"/>
            <a:stretch>
              <a:fillRect/>
            </a:stretch>
          </p:blipFill>
          <p:spPr>
            <a:xfrm>
              <a:off x="47625" y="3819523"/>
              <a:ext cx="1733550" cy="3009898"/>
            </a:xfrm>
            <a:prstGeom prst="rect">
              <a:avLst/>
            </a:prstGeom>
          </p:spPr>
        </p:pic>
      </p:grpSp>
      <p:sp>
        <p:nvSpPr>
          <p:cNvPr id="21" name="object 21"/>
          <p:cNvSpPr txBox="1">
            <a:spLocks noGrp="1"/>
          </p:cNvSpPr>
          <p:nvPr>
            <p:ph type="title"/>
          </p:nvPr>
        </p:nvSpPr>
        <p:spPr>
          <a:xfrm>
            <a:off x="739775" y="445388"/>
            <a:ext cx="2357120" cy="758190"/>
          </a:xfrm>
          <a:prstGeom prst="rect">
            <a:avLst/>
          </a:prstGeom>
        </p:spPr>
        <p:txBody>
          <a:bodyPr vert="horz" wrap="square" lIns="0" tIns="13335" rIns="0" bIns="0" rtlCol="0">
            <a:spAutoFit/>
          </a:bodyPr>
          <a:lstStyle/>
          <a:p>
            <a:pPr marL="12700">
              <a:lnSpc>
                <a:spcPct val="100000"/>
              </a:lnSpc>
              <a:spcBef>
                <a:spcPts val="105"/>
              </a:spcBef>
            </a:pPr>
            <a:r>
              <a:rPr spc="25" dirty="0"/>
              <a:t>A</a:t>
            </a:r>
            <a:r>
              <a:rPr spc="-5" dirty="0"/>
              <a:t>G</a:t>
            </a:r>
            <a:r>
              <a:rPr spc="-35" dirty="0"/>
              <a:t>E</a:t>
            </a:r>
            <a:r>
              <a:rPr spc="15" dirty="0"/>
              <a:t>N</a:t>
            </a:r>
            <a:r>
              <a:rPr dirty="0"/>
              <a:t>DA</a:t>
            </a:r>
          </a:p>
        </p:txBody>
      </p:sp>
      <p:sp>
        <p:nvSpPr>
          <p:cNvPr id="22" name="object 22"/>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3</a:t>
            </a:fld>
            <a:endParaRPr spc="10" dirty="0"/>
          </a:p>
        </p:txBody>
      </p:sp>
      <p:sp>
        <p:nvSpPr>
          <p:cNvPr id="23" name="TextBox 22">
            <a:extLst>
              <a:ext uri="{FF2B5EF4-FFF2-40B4-BE49-F238E27FC236}">
                <a16:creationId xmlns:a16="http://schemas.microsoft.com/office/drawing/2014/main" id="{D0827FA3-A9D4-0FE5-45BE-664C8C920E82}"/>
              </a:ext>
            </a:extLst>
          </p:cNvPr>
          <p:cNvSpPr txBox="1"/>
          <p:nvPr/>
        </p:nvSpPr>
        <p:spPr>
          <a:xfrm>
            <a:off x="2509807" y="1041533"/>
            <a:ext cx="5029200" cy="5262979"/>
          </a:xfrm>
          <a:prstGeom prst="rect">
            <a:avLst/>
          </a:prstGeom>
          <a:noFill/>
        </p:spPr>
        <p:txBody>
          <a:bodyPr wrap="square" rtlCol="0">
            <a:spAutoFit/>
          </a:bodyPr>
          <a:lstStyle/>
          <a:p>
            <a:pPr algn="l"/>
            <a:endParaRPr lang="en-US" sz="2800" b="0" i="0" dirty="0">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Problem Statement</a:t>
            </a: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Project Overview</a:t>
            </a: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End Users</a:t>
            </a:r>
          </a:p>
          <a:p>
            <a:pPr algn="l">
              <a:buFont typeface="+mj-lt"/>
              <a:buAutoNum type="arabicPeriod"/>
            </a:pPr>
            <a:r>
              <a:rPr lang="en-US" sz="2800" dirty="0">
                <a:solidFill>
                  <a:srgbClr val="0D0D0D"/>
                </a:solidFill>
                <a:latin typeface="Times New Roman" panose="02020603050405020304" pitchFamily="18" charset="0"/>
                <a:cs typeface="Times New Roman" panose="02020603050405020304" pitchFamily="18" charset="0"/>
              </a:rPr>
              <a:t>Tools and Technologies</a:t>
            </a:r>
            <a:endParaRPr lang="en-US" sz="2800" b="0" i="0" dirty="0">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Portfolio design and Layout</a:t>
            </a:r>
          </a:p>
          <a:p>
            <a:pPr algn="l">
              <a:buFont typeface="+mj-lt"/>
              <a:buAutoNum type="arabicPeriod"/>
            </a:pPr>
            <a:r>
              <a:rPr lang="en-US" sz="2800" dirty="0">
                <a:solidFill>
                  <a:srgbClr val="0D0D0D"/>
                </a:solidFill>
                <a:latin typeface="Times New Roman" panose="02020603050405020304" pitchFamily="18" charset="0"/>
                <a:cs typeface="Times New Roman" panose="02020603050405020304" pitchFamily="18" charset="0"/>
              </a:rPr>
              <a:t>Features and Functionality</a:t>
            </a:r>
            <a:endParaRPr lang="en-US" sz="2800" b="0" i="0" dirty="0">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Results and </a:t>
            </a:r>
            <a:r>
              <a:rPr lang="en-US" sz="2800" dirty="0">
                <a:solidFill>
                  <a:srgbClr val="0D0D0D"/>
                </a:solidFill>
                <a:latin typeface="Times New Roman" panose="02020603050405020304" pitchFamily="18" charset="0"/>
                <a:cs typeface="Times New Roman" panose="02020603050405020304" pitchFamily="18" charset="0"/>
              </a:rPr>
              <a:t>Screenshots</a:t>
            </a:r>
            <a:endParaRPr lang="en-US" sz="2800" b="0" i="0" dirty="0">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Conclusion</a:t>
            </a:r>
          </a:p>
          <a:p>
            <a:pPr algn="l">
              <a:buFont typeface="+mj-lt"/>
              <a:buAutoNum type="arabicPeriod"/>
            </a:pPr>
            <a:r>
              <a:rPr lang="en-US" sz="2800" dirty="0" err="1">
                <a:solidFill>
                  <a:srgbClr val="0D0D0D"/>
                </a:solidFill>
                <a:latin typeface="Times New Roman" panose="02020603050405020304" pitchFamily="18" charset="0"/>
                <a:cs typeface="Times New Roman" panose="02020603050405020304" pitchFamily="18" charset="0"/>
              </a:rPr>
              <a:t>Github</a:t>
            </a:r>
            <a:r>
              <a:rPr lang="en-US" sz="2800" dirty="0">
                <a:solidFill>
                  <a:srgbClr val="0D0D0D"/>
                </a:solidFill>
                <a:latin typeface="Times New Roman" panose="02020603050405020304" pitchFamily="18" charset="0"/>
                <a:cs typeface="Times New Roman" panose="02020603050405020304" pitchFamily="18" charset="0"/>
              </a:rPr>
              <a:t> Link</a:t>
            </a: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 </a:t>
            </a:r>
            <a:r>
              <a:rPr lang="en-US" sz="2800" dirty="0">
                <a:solidFill>
                  <a:srgbClr val="0D0D0D"/>
                </a:solidFill>
                <a:latin typeface="Times New Roman" panose="02020603050405020304" pitchFamily="18" charset="0"/>
                <a:cs typeface="Times New Roman" panose="02020603050405020304" pitchFamily="18" charset="0"/>
              </a:rPr>
              <a:t>Results and Screenshots</a:t>
            </a:r>
            <a:endParaRPr lang="en-US" sz="2800" b="0" i="0" dirty="0">
              <a:solidFill>
                <a:srgbClr val="0D0D0D"/>
              </a:solidFill>
              <a:effectLst/>
              <a:latin typeface="Times New Roman" panose="02020603050405020304" pitchFamily="18"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7991475" y="2933700"/>
            <a:ext cx="2762250" cy="3257550"/>
            <a:chOff x="7991475" y="2933700"/>
            <a:chExt cx="2762250" cy="325755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5" name="object 5"/>
            <p:cNvPicPr/>
            <p:nvPr/>
          </p:nvPicPr>
          <p:blipFill>
            <a:blip r:embed="rId2" cstate="print"/>
            <a:stretch>
              <a:fillRect/>
            </a:stretch>
          </p:blipFill>
          <p:spPr>
            <a:xfrm>
              <a:off x="7991475" y="2933700"/>
              <a:ext cx="2762250" cy="3257550"/>
            </a:xfrm>
            <a:prstGeom prst="rect">
              <a:avLst/>
            </a:prstGeom>
          </p:spPr>
        </p:pic>
      </p:grpSp>
      <p:sp>
        <p:nvSpPr>
          <p:cNvPr id="6" name="object 6"/>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7" name="object 7"/>
          <p:cNvSpPr txBox="1">
            <a:spLocks noGrp="1"/>
          </p:cNvSpPr>
          <p:nvPr>
            <p:ph type="title"/>
          </p:nvPr>
        </p:nvSpPr>
        <p:spPr>
          <a:xfrm>
            <a:off x="856060" y="378021"/>
            <a:ext cx="6454378" cy="6479979"/>
          </a:xfrm>
          <a:prstGeom prst="rect">
            <a:avLst/>
          </a:prstGeom>
        </p:spPr>
        <p:txBody>
          <a:bodyPr vert="horz" wrap="square" lIns="0" tIns="16510" rIns="0" bIns="0" rtlCol="0" anchor="ctr">
            <a:spAutoFit/>
          </a:bodyPr>
          <a:lstStyle/>
          <a:p>
            <a:pPr marL="12700" algn="just">
              <a:lnSpc>
                <a:spcPct val="100000"/>
              </a:lnSpc>
              <a:spcBef>
                <a:spcPts val="130"/>
              </a:spcBef>
              <a:tabLst>
                <a:tab pos="2727960" algn="l"/>
              </a:tabLst>
            </a:pPr>
            <a:r>
              <a:rPr sz="2800" spc="-20" dirty="0"/>
              <a:t>P</a:t>
            </a:r>
            <a:r>
              <a:rPr sz="2800" spc="15" dirty="0"/>
              <a:t>ROB</a:t>
            </a:r>
            <a:r>
              <a:rPr sz="2800" spc="55" dirty="0"/>
              <a:t>L</a:t>
            </a:r>
            <a:r>
              <a:rPr sz="2800" spc="-20" dirty="0"/>
              <a:t>E</a:t>
            </a:r>
            <a:r>
              <a:rPr sz="2800" spc="20" dirty="0"/>
              <a:t>M</a:t>
            </a:r>
            <a:r>
              <a:rPr sz="2800" dirty="0"/>
              <a:t>	</a:t>
            </a:r>
            <a:r>
              <a:rPr sz="2800" spc="10" dirty="0"/>
              <a:t>S</a:t>
            </a:r>
            <a:r>
              <a:rPr sz="2800" spc="-370" dirty="0"/>
              <a:t>T</a:t>
            </a:r>
            <a:r>
              <a:rPr sz="2800" spc="-375" dirty="0"/>
              <a:t>A</a:t>
            </a:r>
            <a:r>
              <a:rPr sz="2800" spc="15" dirty="0"/>
              <a:t>T</a:t>
            </a:r>
            <a:r>
              <a:rPr sz="2800" spc="-10" dirty="0"/>
              <a:t>E</a:t>
            </a:r>
            <a:r>
              <a:rPr sz="2800" spc="-20" dirty="0"/>
              <a:t>ME</a:t>
            </a:r>
            <a:r>
              <a:rPr sz="2800" spc="10" dirty="0"/>
              <a:t>NT</a:t>
            </a:r>
            <a:r>
              <a:rPr lang="en-US" sz="2800" spc="10" dirty="0"/>
              <a:t/>
            </a:r>
            <a:br>
              <a:rPr lang="en-US" sz="2800" spc="10" dirty="0"/>
            </a:br>
            <a:r>
              <a:rPr lang="en-IN" sz="2800" spc="10" dirty="0"/>
              <a:t>In the digital age, users expect fast, accessible, and seamless online experiences across all devices. However, many existing websites suffer from poor user interfaces, lack of mobile responsiveness, and slow loading times, which lead to high bounce rates and reduced user engagement. Additionally, small businesses and individuals often struggle to find cost-effective, customized solutions that meet their unique needs.</a:t>
            </a:r>
            <a:r>
              <a:rPr lang="en-US" sz="2800" spc="10" dirty="0"/>
              <a:t/>
            </a:r>
            <a:br>
              <a:rPr lang="en-US" sz="2800" spc="10" dirty="0"/>
            </a:br>
            <a:endParaRPr sz="2800" dirty="0"/>
          </a:p>
        </p:txBody>
      </p:sp>
      <p:pic>
        <p:nvPicPr>
          <p:cNvPr id="8" name="object 8"/>
          <p:cNvPicPr/>
          <p:nvPr/>
        </p:nvPicPr>
        <p:blipFill>
          <a:blip r:embed="rId3" cstate="print"/>
          <a:stretch>
            <a:fillRect/>
          </a:stretch>
        </p:blipFill>
        <p:spPr>
          <a:xfrm>
            <a:off x="676275" y="6467475"/>
            <a:ext cx="2143125" cy="200025"/>
          </a:xfrm>
          <a:prstGeom prst="rect">
            <a:avLst/>
          </a:prstGeom>
        </p:spPr>
      </p:pic>
      <p:sp>
        <p:nvSpPr>
          <p:cNvPr id="10" name="object 10"/>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4</a:t>
            </a:fld>
            <a:endParaRPr spc="1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8658225" y="2647950"/>
            <a:ext cx="3533775" cy="3810000"/>
            <a:chOff x="8658225" y="2647950"/>
            <a:chExt cx="3533775" cy="381000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5" name="object 5"/>
            <p:cNvPicPr/>
            <p:nvPr/>
          </p:nvPicPr>
          <p:blipFill>
            <a:blip r:embed="rId2" cstate="print"/>
            <a:stretch>
              <a:fillRect/>
            </a:stretch>
          </p:blipFill>
          <p:spPr>
            <a:xfrm>
              <a:off x="8658225" y="2647950"/>
              <a:ext cx="3533775" cy="3810000"/>
            </a:xfrm>
            <a:prstGeom prst="rect">
              <a:avLst/>
            </a:prstGeom>
          </p:spPr>
        </p:pic>
      </p:grpSp>
      <p:sp>
        <p:nvSpPr>
          <p:cNvPr id="6" name="object 6"/>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7" name="object 7"/>
          <p:cNvSpPr txBox="1">
            <a:spLocks noGrp="1"/>
          </p:cNvSpPr>
          <p:nvPr>
            <p:ph type="title"/>
          </p:nvPr>
        </p:nvSpPr>
        <p:spPr>
          <a:xfrm>
            <a:off x="739775" y="829627"/>
            <a:ext cx="6804025" cy="5364289"/>
          </a:xfrm>
          <a:prstGeom prst="rect">
            <a:avLst/>
          </a:prstGeom>
        </p:spPr>
        <p:txBody>
          <a:bodyPr vert="horz" wrap="square" lIns="0" tIns="16510" rIns="0" bIns="0" rtlCol="0">
            <a:spAutoFit/>
          </a:bodyPr>
          <a:lstStyle/>
          <a:p>
            <a:r>
              <a:rPr sz="4250" spc="5" dirty="0"/>
              <a:t>PROJECT	</a:t>
            </a:r>
            <a:r>
              <a:rPr sz="4250" spc="-20" dirty="0"/>
              <a:t>OVERVIEW</a:t>
            </a:r>
            <a:r>
              <a:rPr lang="en-US" sz="4250" spc="-20" dirty="0"/>
              <a:t/>
            </a:r>
            <a:br>
              <a:rPr lang="en-US" sz="4250" spc="-20" dirty="0"/>
            </a:br>
            <a:r>
              <a:rPr lang="en-US" sz="4250" spc="-20" dirty="0"/>
              <a:t/>
            </a:r>
            <a:br>
              <a:rPr lang="en-US" sz="4250" spc="-20" dirty="0"/>
            </a:br>
            <a:r>
              <a:rPr lang="en-US" sz="2000" dirty="0"/>
              <a:t>This project focuses on creating a personal portfolio website using HTML, CSS, and JavaScript. The portfolio will serve as a digital resume for students to present their skills, academic projects, and achievements in a structured and visually appealing way.</a:t>
            </a:r>
            <a:br>
              <a:rPr lang="en-US" sz="2000" dirty="0"/>
            </a:br>
            <a:r>
              <a:rPr lang="en-US" sz="2000" dirty="0"/>
              <a:t>HTML will be used to design the structure and content of the website.</a:t>
            </a:r>
            <a:br>
              <a:rPr lang="en-US" sz="2000" dirty="0"/>
            </a:br>
            <a:r>
              <a:rPr lang="en-US" sz="2000" dirty="0"/>
              <a:t>CSS will provide styling, layouts, and responsiveness across devices.</a:t>
            </a:r>
            <a:br>
              <a:rPr lang="en-US" sz="2000" dirty="0"/>
            </a:br>
            <a:r>
              <a:rPr lang="en-US" sz="2000" dirty="0"/>
              <a:t>JavaScript will add interactivity, such as navigation menus, animations, and form validation.</a:t>
            </a:r>
            <a:r>
              <a:rPr lang="en-US" sz="4400" dirty="0"/>
              <a:t/>
            </a:r>
            <a:br>
              <a:rPr lang="en-US" sz="4400" dirty="0"/>
            </a:br>
            <a:endParaRPr sz="4250" dirty="0"/>
          </a:p>
        </p:txBody>
      </p:sp>
      <p:pic>
        <p:nvPicPr>
          <p:cNvPr id="8" name="object 8"/>
          <p:cNvPicPr/>
          <p:nvPr/>
        </p:nvPicPr>
        <p:blipFill>
          <a:blip r:embed="rId3" cstate="print"/>
          <a:stretch>
            <a:fillRect/>
          </a:stretch>
        </p:blipFill>
        <p:spPr>
          <a:xfrm>
            <a:off x="676275" y="6467475"/>
            <a:ext cx="2143125" cy="200025"/>
          </a:xfrm>
          <a:prstGeom prst="rect">
            <a:avLst/>
          </a:prstGeom>
        </p:spPr>
      </p:pic>
      <p:sp>
        <p:nvSpPr>
          <p:cNvPr id="10" name="object 10"/>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5</a:t>
            </a:fld>
            <a:endParaRPr spc="1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3" name="object 3"/>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4" name="object 4"/>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sp>
        <p:nvSpPr>
          <p:cNvPr id="5" name="object 5"/>
          <p:cNvSpPr txBox="1">
            <a:spLocks noGrp="1"/>
          </p:cNvSpPr>
          <p:nvPr>
            <p:ph type="title"/>
          </p:nvPr>
        </p:nvSpPr>
        <p:spPr>
          <a:xfrm>
            <a:off x="699452" y="868201"/>
            <a:ext cx="6082348" cy="4817986"/>
          </a:xfrm>
          <a:prstGeom prst="rect">
            <a:avLst/>
          </a:prstGeom>
        </p:spPr>
        <p:txBody>
          <a:bodyPr vert="horz" wrap="square" lIns="0" tIns="16510" rIns="0" bIns="0" rtlCol="0">
            <a:spAutoFit/>
          </a:bodyPr>
          <a:lstStyle/>
          <a:p>
            <a:pPr marL="0" marR="0" lvl="0" indent="0" algn="l" defTabSz="914400" rtl="0" eaLnBrk="0" fontAlgn="base" latinLnBrk="0" hangingPunct="0">
              <a:lnSpc>
                <a:spcPct val="100000"/>
              </a:lnSpc>
              <a:spcBef>
                <a:spcPct val="0"/>
              </a:spcBef>
              <a:spcAft>
                <a:spcPct val="0"/>
              </a:spcAft>
              <a:buClrTx/>
              <a:buSzTx/>
              <a:tabLst/>
            </a:pPr>
            <a:r>
              <a:rPr sz="3200" spc="25" dirty="0"/>
              <a:t>W</a:t>
            </a:r>
            <a:r>
              <a:rPr sz="3200" spc="-20" dirty="0"/>
              <a:t>H</a:t>
            </a:r>
            <a:r>
              <a:rPr sz="3200" spc="20" dirty="0"/>
              <a:t>O</a:t>
            </a:r>
            <a:r>
              <a:rPr sz="3200" spc="-235" dirty="0"/>
              <a:t> </a:t>
            </a:r>
            <a:r>
              <a:rPr sz="3200" spc="-10" dirty="0"/>
              <a:t>AR</a:t>
            </a:r>
            <a:r>
              <a:rPr sz="3200" spc="15" dirty="0"/>
              <a:t>E</a:t>
            </a:r>
            <a:r>
              <a:rPr sz="3200" spc="-35" dirty="0"/>
              <a:t> </a:t>
            </a:r>
            <a:r>
              <a:rPr sz="3200" spc="-10" dirty="0"/>
              <a:t>T</a:t>
            </a:r>
            <a:r>
              <a:rPr sz="3200" spc="-15" dirty="0"/>
              <a:t>H</a:t>
            </a:r>
            <a:r>
              <a:rPr sz="3200" spc="15" dirty="0"/>
              <a:t>E</a:t>
            </a:r>
            <a:r>
              <a:rPr sz="3200" spc="-35" dirty="0"/>
              <a:t> </a:t>
            </a:r>
            <a:r>
              <a:rPr sz="3200" spc="-20" dirty="0"/>
              <a:t>E</a:t>
            </a:r>
            <a:r>
              <a:rPr sz="3200" spc="30" dirty="0"/>
              <a:t>N</a:t>
            </a:r>
            <a:r>
              <a:rPr sz="3200" spc="15" dirty="0"/>
              <a:t>D</a:t>
            </a:r>
            <a:r>
              <a:rPr sz="3200" spc="-45" dirty="0"/>
              <a:t> </a:t>
            </a:r>
            <a:r>
              <a:rPr sz="3200" dirty="0"/>
              <a:t>U</a:t>
            </a:r>
            <a:r>
              <a:rPr sz="3200" spc="10" dirty="0"/>
              <a:t>S</a:t>
            </a:r>
            <a:r>
              <a:rPr sz="3200" spc="-25" dirty="0"/>
              <a:t>E</a:t>
            </a:r>
            <a:r>
              <a:rPr sz="3200" spc="-10" dirty="0"/>
              <a:t>R</a:t>
            </a:r>
            <a:r>
              <a:rPr sz="3200" spc="5" dirty="0"/>
              <a:t>S?</a:t>
            </a:r>
            <a:r>
              <a:rPr lang="en-US" sz="3200" spc="5" dirty="0"/>
              <a:t/>
            </a:r>
            <a:br>
              <a:rPr lang="en-US" sz="3200" spc="5" dirty="0"/>
            </a:br>
            <a:r>
              <a:rPr lang="en-US" sz="3200" spc="5" dirty="0"/>
              <a:t/>
            </a:r>
            <a:br>
              <a:rPr lang="en-US" sz="3200" spc="5" dirty="0"/>
            </a:br>
            <a:r>
              <a:rPr lang="en-US" sz="3200" spc="5" dirty="0"/>
              <a:t> . </a:t>
            </a:r>
            <a:r>
              <a:rPr lang="en-US" sz="2400" b="0" dirty="0">
                <a:latin typeface="Arial" panose="020B0604020202020204" pitchFamily="34" charset="0"/>
              </a:rPr>
              <a:t>Recruiters &amp; Employers</a:t>
            </a:r>
            <a:br>
              <a:rPr lang="en-US" sz="2400" b="0" dirty="0">
                <a:latin typeface="Arial" panose="020B0604020202020204" pitchFamily="34" charset="0"/>
              </a:rPr>
            </a:br>
            <a:r>
              <a:rPr lang="en-US" sz="2400" b="0" dirty="0">
                <a:latin typeface="Arial" panose="020B0604020202020204" pitchFamily="34" charset="0"/>
              </a:rPr>
              <a:t/>
            </a:r>
            <a:br>
              <a:rPr lang="en-US" sz="2400" b="0" dirty="0">
                <a:latin typeface="Arial" panose="020B0604020202020204" pitchFamily="34" charset="0"/>
              </a:rPr>
            </a:br>
            <a:r>
              <a:rPr lang="en-US" sz="2400" b="0" dirty="0">
                <a:latin typeface="Arial" panose="020B0604020202020204" pitchFamily="34" charset="0"/>
              </a:rPr>
              <a:t>  </a:t>
            </a:r>
            <a:r>
              <a:rPr lang="en-US" sz="3200" dirty="0">
                <a:latin typeface="Arial" panose="020B0604020202020204" pitchFamily="34" charset="0"/>
              </a:rPr>
              <a:t>.</a:t>
            </a:r>
            <a:r>
              <a:rPr lang="en-US" sz="2400" b="0" dirty="0">
                <a:latin typeface="Arial" panose="020B0604020202020204" pitchFamily="34" charset="0"/>
              </a:rPr>
              <a:t> Teachers / Academic Evaluators</a:t>
            </a:r>
            <a:br>
              <a:rPr lang="en-US" sz="2400" b="0" dirty="0">
                <a:latin typeface="Arial" panose="020B0604020202020204" pitchFamily="34" charset="0"/>
              </a:rPr>
            </a:br>
            <a:r>
              <a:rPr lang="en-US" sz="2400" b="0" dirty="0">
                <a:latin typeface="Arial" panose="020B0604020202020204" pitchFamily="34" charset="0"/>
              </a:rPr>
              <a:t/>
            </a:r>
            <a:br>
              <a:rPr lang="en-US" sz="2400" b="0" dirty="0">
                <a:latin typeface="Arial" panose="020B0604020202020204" pitchFamily="34" charset="0"/>
              </a:rPr>
            </a:br>
            <a:r>
              <a:rPr lang="en-US" sz="2400" b="0" dirty="0">
                <a:latin typeface="Arial" panose="020B0604020202020204" pitchFamily="34" charset="0"/>
              </a:rPr>
              <a:t>  .  Peers &amp; Collaborators</a:t>
            </a:r>
            <a:br>
              <a:rPr lang="en-US" sz="2400" b="0" dirty="0">
                <a:latin typeface="Arial" panose="020B0604020202020204" pitchFamily="34" charset="0"/>
              </a:rPr>
            </a:br>
            <a:r>
              <a:rPr lang="en-US" sz="2400" b="0" dirty="0">
                <a:latin typeface="Arial" panose="020B0604020202020204" pitchFamily="34" charset="0"/>
              </a:rPr>
              <a:t> </a:t>
            </a:r>
            <a:br>
              <a:rPr lang="en-US" sz="2400" b="0" dirty="0">
                <a:latin typeface="Arial" panose="020B0604020202020204" pitchFamily="34" charset="0"/>
              </a:rPr>
            </a:br>
            <a:r>
              <a:rPr lang="en-US" sz="2400" b="0" dirty="0">
                <a:latin typeface="Arial" panose="020B0604020202020204" pitchFamily="34" charset="0"/>
              </a:rPr>
              <a:t>  .  General Audience / Clients</a:t>
            </a:r>
            <a:r>
              <a:rPr lang="en-US" sz="3200" b="0" dirty="0">
                <a:latin typeface="Arial" panose="020B0604020202020204" pitchFamily="34" charset="0"/>
              </a:rPr>
              <a:t/>
            </a:r>
            <a:br>
              <a:rPr lang="en-US" sz="3200" b="0" dirty="0">
                <a:latin typeface="Arial" panose="020B0604020202020204" pitchFamily="34" charset="0"/>
              </a:rPr>
            </a:br>
            <a:r>
              <a:rPr lang="en-US" sz="3200" spc="5" dirty="0"/>
              <a:t/>
            </a:r>
            <a:br>
              <a:rPr lang="en-US" sz="3200" spc="5" dirty="0"/>
            </a:br>
            <a:endParaRPr sz="3200" dirty="0"/>
          </a:p>
        </p:txBody>
      </p:sp>
      <p:pic>
        <p:nvPicPr>
          <p:cNvPr id="6" name="object 6"/>
          <p:cNvPicPr/>
          <p:nvPr/>
        </p:nvPicPr>
        <p:blipFill>
          <a:blip r:embed="rId2" cstate="print"/>
          <a:stretch>
            <a:fillRect/>
          </a:stretch>
        </p:blipFill>
        <p:spPr>
          <a:xfrm>
            <a:off x="723900" y="6172200"/>
            <a:ext cx="2181225" cy="485775"/>
          </a:xfrm>
          <a:prstGeom prst="rect">
            <a:avLst/>
          </a:prstGeom>
        </p:spPr>
      </p:pic>
      <p:sp>
        <p:nvSpPr>
          <p:cNvPr id="8" name="object 8"/>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6</a:t>
            </a:fld>
            <a:endParaRPr spc="1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1476375"/>
            <a:ext cx="2695574" cy="3248025"/>
          </a:xfrm>
          <a:prstGeom prst="rect">
            <a:avLst/>
          </a:prstGeom>
        </p:spPr>
      </p:pic>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sp>
        <p:nvSpPr>
          <p:cNvPr id="6" name="object 6"/>
          <p:cNvSpPr txBox="1">
            <a:spLocks noGrp="1"/>
          </p:cNvSpPr>
          <p:nvPr>
            <p:ph type="title"/>
          </p:nvPr>
        </p:nvSpPr>
        <p:spPr>
          <a:xfrm>
            <a:off x="558165" y="857885"/>
            <a:ext cx="9763125" cy="575310"/>
          </a:xfrm>
          <a:prstGeom prst="rect">
            <a:avLst/>
          </a:prstGeom>
        </p:spPr>
        <p:txBody>
          <a:bodyPr vert="horz" wrap="square" lIns="0" tIns="13335" rIns="0" bIns="0" rtlCol="0">
            <a:spAutoFit/>
          </a:bodyPr>
          <a:lstStyle/>
          <a:p>
            <a:pPr marL="12700">
              <a:lnSpc>
                <a:spcPct val="100000"/>
              </a:lnSpc>
              <a:spcBef>
                <a:spcPts val="105"/>
              </a:spcBef>
            </a:pPr>
            <a:r>
              <a:rPr lang="en-IN" sz="3600" spc="10" dirty="0"/>
              <a:t>TOOLS AND TECHNIQUES</a:t>
            </a:r>
            <a:endParaRPr sz="3600" dirty="0"/>
          </a:p>
        </p:txBody>
      </p:sp>
      <p:pic>
        <p:nvPicPr>
          <p:cNvPr id="7" name="object 7"/>
          <p:cNvPicPr/>
          <p:nvPr/>
        </p:nvPicPr>
        <p:blipFill>
          <a:blip r:embed="rId3" cstate="print"/>
          <a:stretch>
            <a:fillRect/>
          </a:stretch>
        </p:blipFill>
        <p:spPr>
          <a:xfrm>
            <a:off x="676275" y="6467475"/>
            <a:ext cx="2143125" cy="200025"/>
          </a:xfrm>
          <a:prstGeom prst="rect">
            <a:avLst/>
          </a:prstGeom>
        </p:spPr>
      </p:pic>
      <p:sp>
        <p:nvSpPr>
          <p:cNvPr id="9" name="object 9"/>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7</a:t>
            </a:fld>
            <a:endParaRPr spc="10" dirty="0"/>
          </a:p>
        </p:txBody>
      </p:sp>
      <p:sp>
        <p:nvSpPr>
          <p:cNvPr id="8" name="TextBox 7"/>
          <p:cNvSpPr txBox="1"/>
          <p:nvPr/>
        </p:nvSpPr>
        <p:spPr>
          <a:xfrm>
            <a:off x="2895600" y="1695449"/>
            <a:ext cx="7425690" cy="3139321"/>
          </a:xfrm>
          <a:prstGeom prst="rect">
            <a:avLst/>
          </a:prstGeom>
          <a:noFill/>
        </p:spPr>
        <p:txBody>
          <a:bodyPr wrap="square" rtlCol="0">
            <a:spAutoFit/>
          </a:bodyPr>
          <a:lstStyle/>
          <a:p>
            <a:r>
              <a:rPr lang="en-GB" b="1" dirty="0"/>
              <a:t>Tools:</a:t>
            </a:r>
          </a:p>
          <a:p>
            <a:endParaRPr lang="en-GB" b="1" dirty="0"/>
          </a:p>
          <a:p>
            <a:r>
              <a:rPr lang="en-GB" b="1" dirty="0"/>
              <a:t> . Visual Studio Code (VS Code)</a:t>
            </a:r>
            <a:endParaRPr lang="en-GB" dirty="0"/>
          </a:p>
          <a:p>
            <a:r>
              <a:rPr lang="en-GB" b="1" dirty="0"/>
              <a:t> . Web Browsers (Chrome)</a:t>
            </a:r>
            <a:endParaRPr lang="en-GB" dirty="0"/>
          </a:p>
          <a:p>
            <a:r>
              <a:rPr lang="en-GB" b="1" dirty="0"/>
              <a:t> . Git Hub</a:t>
            </a:r>
            <a:endParaRPr lang="en-GB" dirty="0"/>
          </a:p>
          <a:p>
            <a:endParaRPr lang="en-GB" dirty="0"/>
          </a:p>
          <a:p>
            <a:r>
              <a:rPr lang="en-GB" b="1" dirty="0"/>
              <a:t>Techniques:</a:t>
            </a:r>
          </a:p>
          <a:p>
            <a:endParaRPr lang="en-GB" b="1" dirty="0"/>
          </a:p>
          <a:p>
            <a:r>
              <a:rPr lang="en-GB" b="1" dirty="0"/>
              <a:t> . HTML</a:t>
            </a:r>
          </a:p>
          <a:p>
            <a:r>
              <a:rPr lang="en-GB" b="1" dirty="0"/>
              <a:t> . CSS</a:t>
            </a:r>
          </a:p>
          <a:p>
            <a:r>
              <a:rPr lang="en-GB" b="1" dirty="0"/>
              <a:t> . JavaScript</a:t>
            </a:r>
            <a:endParaRPr lang="en-GB"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p:cNvPicPr/>
          <p:nvPr/>
        </p:nvPicPr>
        <p:blipFill>
          <a:blip r:embed="rId3" cstate="print"/>
          <a:stretch>
            <a:fillRect/>
          </a:stretch>
        </p:blipFill>
        <p:spPr>
          <a:xfrm>
            <a:off x="1666875" y="6467475"/>
            <a:ext cx="76200" cy="177800"/>
          </a:xfrm>
          <a:prstGeom prst="rect">
            <a:avLst/>
          </a:prstGeom>
        </p:spPr>
      </p:pic>
      <p:sp>
        <p:nvSpPr>
          <p:cNvPr id="9" name="object 9"/>
          <p:cNvSpPr txBox="1"/>
          <p:nvPr/>
        </p:nvSpPr>
        <p:spPr>
          <a:xfrm>
            <a:off x="11277218" y="6473337"/>
            <a:ext cx="228600" cy="191770"/>
          </a:xfrm>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z="1100" spc="10" dirty="0">
                <a:solidFill>
                  <a:srgbClr val="2D936B"/>
                </a:solidFill>
                <a:latin typeface="Trebuchet MS"/>
                <a:cs typeface="Trebuchet MS"/>
              </a:rPr>
              <a:t>8</a:t>
            </a:fld>
            <a:endParaRPr sz="1100">
              <a:latin typeface="Trebuchet MS"/>
              <a:cs typeface="Trebuchet MS"/>
            </a:endParaRPr>
          </a:p>
        </p:txBody>
      </p:sp>
      <p:sp>
        <p:nvSpPr>
          <p:cNvPr id="8" name="object 8"/>
          <p:cNvSpPr txBox="1"/>
          <p:nvPr/>
        </p:nvSpPr>
        <p:spPr>
          <a:xfrm>
            <a:off x="649287" y="353323"/>
            <a:ext cx="8794750" cy="629018"/>
          </a:xfrm>
          <a:prstGeom prst="rect">
            <a:avLst/>
          </a:prstGeom>
        </p:spPr>
        <p:txBody>
          <a:bodyPr vert="horz" wrap="square" lIns="0" tIns="13335" rIns="0" bIns="0" rtlCol="0">
            <a:spAutoFit/>
          </a:bodyPr>
          <a:lstStyle/>
          <a:p>
            <a:pPr marL="12700">
              <a:lnSpc>
                <a:spcPct val="100000"/>
              </a:lnSpc>
              <a:spcBef>
                <a:spcPts val="105"/>
              </a:spcBef>
            </a:pPr>
            <a:r>
              <a:rPr lang="en-IN" sz="4000" b="1" spc="15" dirty="0">
                <a:latin typeface="Trebuchet MS"/>
                <a:cs typeface="Trebuchet MS"/>
              </a:rPr>
              <a:t>POTFOLIO DESIGN AND LAYOUT</a:t>
            </a:r>
            <a:endParaRPr sz="4000" dirty="0">
              <a:latin typeface="Trebuchet MS"/>
              <a:cs typeface="Trebuchet MS"/>
            </a:endParaRPr>
          </a:p>
        </p:txBody>
      </p:sp>
      <p:sp>
        <p:nvSpPr>
          <p:cNvPr id="14" name="object 3"/>
          <p:cNvSpPr/>
          <p:nvPr/>
        </p:nvSpPr>
        <p:spPr>
          <a:xfrm>
            <a:off x="10058400" y="525141"/>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2" name="TextBox 1"/>
          <p:cNvSpPr txBox="1"/>
          <p:nvPr/>
        </p:nvSpPr>
        <p:spPr>
          <a:xfrm>
            <a:off x="533401" y="1062331"/>
            <a:ext cx="3505200" cy="3970318"/>
          </a:xfrm>
          <a:prstGeom prst="rect">
            <a:avLst/>
          </a:prstGeom>
          <a:noFill/>
        </p:spPr>
        <p:txBody>
          <a:bodyPr wrap="square" rtlCol="0">
            <a:spAutoFit/>
          </a:bodyPr>
          <a:lstStyle/>
          <a:p>
            <a:endParaRPr lang="en-US" b="1" dirty="0"/>
          </a:p>
          <a:p>
            <a:endParaRPr lang="en-US" b="1" dirty="0"/>
          </a:p>
          <a:p>
            <a:endParaRPr lang="en-US" b="1" dirty="0"/>
          </a:p>
          <a:p>
            <a:r>
              <a:rPr lang="en-US" b="1" dirty="0"/>
              <a:t>1)Header / Navigation Bar</a:t>
            </a:r>
          </a:p>
          <a:p>
            <a:endParaRPr lang="en-US" dirty="0"/>
          </a:p>
          <a:p>
            <a:r>
              <a:rPr lang="en-US" b="1" dirty="0"/>
              <a:t>2)Home / Introduction Section</a:t>
            </a:r>
          </a:p>
          <a:p>
            <a:endParaRPr lang="en-US" dirty="0"/>
          </a:p>
          <a:p>
            <a:r>
              <a:rPr lang="en-US" b="1" dirty="0"/>
              <a:t>3)About Section</a:t>
            </a:r>
          </a:p>
          <a:p>
            <a:endParaRPr lang="en-US" dirty="0"/>
          </a:p>
          <a:p>
            <a:r>
              <a:rPr lang="en-US" b="1" dirty="0"/>
              <a:t>4)Projects Section</a:t>
            </a:r>
          </a:p>
          <a:p>
            <a:endParaRPr lang="en-US" dirty="0"/>
          </a:p>
          <a:p>
            <a:r>
              <a:rPr lang="en-US" b="1" dirty="0"/>
              <a:t>5)Contact Section</a:t>
            </a:r>
          </a:p>
          <a:p>
            <a:endParaRPr lang="en-US" dirty="0"/>
          </a:p>
          <a:p>
            <a:r>
              <a:rPr lang="en-US" b="1" dirty="0"/>
              <a:t>6)Footer</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6195E-16D6-79D8-7A9F-F8EB1FE9E212}"/>
              </a:ext>
            </a:extLst>
          </p:cNvPr>
          <p:cNvSpPr>
            <a:spLocks noGrp="1"/>
          </p:cNvSpPr>
          <p:nvPr>
            <p:ph type="title"/>
          </p:nvPr>
        </p:nvSpPr>
        <p:spPr/>
        <p:txBody>
          <a:bodyPr/>
          <a:lstStyle/>
          <a:p>
            <a:r>
              <a:rPr lang="en-IN" dirty="0"/>
              <a:t>FEATURES AND FUNCTIONALITY</a:t>
            </a:r>
          </a:p>
        </p:txBody>
      </p:sp>
      <p:sp>
        <p:nvSpPr>
          <p:cNvPr id="3" name="Rectangle 2"/>
          <p:cNvSpPr/>
          <p:nvPr/>
        </p:nvSpPr>
        <p:spPr>
          <a:xfrm>
            <a:off x="1600200" y="1371600"/>
            <a:ext cx="6096000" cy="5078313"/>
          </a:xfrm>
          <a:prstGeom prst="rect">
            <a:avLst/>
          </a:prstGeom>
        </p:spPr>
        <p:txBody>
          <a:bodyPr>
            <a:spAutoFit/>
          </a:bodyPr>
          <a:lstStyle/>
          <a:p>
            <a:r>
              <a:rPr lang="en-US" b="1" dirty="0"/>
              <a:t>Features:</a:t>
            </a:r>
          </a:p>
          <a:p>
            <a:r>
              <a:rPr lang="en-US" b="1" dirty="0"/>
              <a:t> </a:t>
            </a:r>
          </a:p>
          <a:p>
            <a:pPr>
              <a:buFont typeface="Arial" panose="020B0604020202020204" pitchFamily="34" charset="0"/>
              <a:buChar char="•"/>
            </a:pPr>
            <a:r>
              <a:rPr lang="en-US" dirty="0"/>
              <a:t>Clean and responsive design</a:t>
            </a:r>
          </a:p>
          <a:p>
            <a:endParaRPr lang="en-US" dirty="0"/>
          </a:p>
          <a:p>
            <a:pPr>
              <a:buFont typeface="Arial" panose="020B0604020202020204" pitchFamily="34" charset="0"/>
              <a:buChar char="•"/>
            </a:pPr>
            <a:r>
              <a:rPr lang="en-US" dirty="0"/>
              <a:t>Easy navigation with a header menu</a:t>
            </a:r>
          </a:p>
          <a:p>
            <a:endParaRPr lang="en-US" dirty="0"/>
          </a:p>
          <a:p>
            <a:pPr>
              <a:buFont typeface="Arial" panose="020B0604020202020204" pitchFamily="34" charset="0"/>
              <a:buChar char="•"/>
            </a:pPr>
            <a:r>
              <a:rPr lang="en-US" dirty="0"/>
              <a:t>Separate sections: About, Projects, Contact</a:t>
            </a:r>
          </a:p>
          <a:p>
            <a:endParaRPr lang="en-US" dirty="0"/>
          </a:p>
          <a:p>
            <a:r>
              <a:rPr lang="en-US" b="1" dirty="0"/>
              <a:t>Functionality:</a:t>
            </a:r>
          </a:p>
          <a:p>
            <a:endParaRPr lang="en-US" b="1" dirty="0"/>
          </a:p>
          <a:p>
            <a:pPr>
              <a:buFont typeface="Arial" panose="020B0604020202020204" pitchFamily="34" charset="0"/>
              <a:buChar char="•"/>
            </a:pPr>
            <a:r>
              <a:rPr lang="en-US" b="1" dirty="0"/>
              <a:t>HTML:</a:t>
            </a:r>
            <a:r>
              <a:rPr lang="en-US" dirty="0"/>
              <a:t> Provides structure for sections and content</a:t>
            </a:r>
          </a:p>
          <a:p>
            <a:pPr>
              <a:buFont typeface="Arial" panose="020B0604020202020204" pitchFamily="34" charset="0"/>
              <a:buChar char="•"/>
            </a:pPr>
            <a:endParaRPr lang="en-US" dirty="0"/>
          </a:p>
          <a:p>
            <a:pPr>
              <a:buFont typeface="Arial" panose="020B0604020202020204" pitchFamily="34" charset="0"/>
              <a:buChar char="•"/>
            </a:pPr>
            <a:r>
              <a:rPr lang="en-US" b="1" dirty="0"/>
              <a:t>CSS:</a:t>
            </a:r>
            <a:r>
              <a:rPr lang="en-US" dirty="0"/>
              <a:t> Adds styling, color schemes, and responsive layout</a:t>
            </a:r>
          </a:p>
          <a:p>
            <a:pPr>
              <a:buFont typeface="Arial" panose="020B0604020202020204" pitchFamily="34" charset="0"/>
              <a:buChar char="•"/>
            </a:pPr>
            <a:endParaRPr lang="en-US" dirty="0"/>
          </a:p>
          <a:p>
            <a:pPr>
              <a:buFont typeface="Arial" panose="020B0604020202020204" pitchFamily="34" charset="0"/>
              <a:buChar char="•"/>
            </a:pPr>
            <a:r>
              <a:rPr lang="en-US" b="1" dirty="0"/>
              <a:t>JavaScript:</a:t>
            </a:r>
            <a:endParaRPr lang="en-US" dirty="0"/>
          </a:p>
          <a:p>
            <a:pPr marL="742950" lvl="1" indent="-285750">
              <a:buFont typeface="Arial" panose="020B0604020202020204" pitchFamily="34" charset="0"/>
              <a:buChar char="•"/>
            </a:pPr>
            <a:r>
              <a:rPr lang="en-US" dirty="0"/>
              <a:t>Form validation</a:t>
            </a:r>
          </a:p>
          <a:p>
            <a:pPr marL="742950" lvl="1" indent="-285750">
              <a:buFont typeface="Arial" panose="020B0604020202020204" pitchFamily="34" charset="0"/>
              <a:buChar char="•"/>
            </a:pPr>
            <a:r>
              <a:rPr lang="en-US" dirty="0"/>
              <a:t>Button actions (alerts, navigation)</a:t>
            </a:r>
          </a:p>
          <a:p>
            <a:pPr marL="742950" lvl="1" indent="-285750">
              <a:buFont typeface="Arial" panose="020B0604020202020204" pitchFamily="34" charset="0"/>
              <a:buChar char="•"/>
            </a:pPr>
            <a:r>
              <a:rPr lang="en-US" dirty="0"/>
              <a:t>Interactive elements (menu toggle, animations)</a:t>
            </a:r>
          </a:p>
        </p:txBody>
      </p:sp>
    </p:spTree>
    <p:extLst>
      <p:ext uri="{BB962C8B-B14F-4D97-AF65-F5344CB8AC3E}">
        <p14:creationId xmlns:p14="http://schemas.microsoft.com/office/powerpoint/2010/main" val="27206606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52475" y="6486037"/>
            <a:ext cx="1773555" cy="166370"/>
          </a:xfrm>
          <a:prstGeom prst="rect">
            <a:avLst/>
          </a:prstGeom>
        </p:spPr>
        <p:txBody>
          <a:bodyPr vert="horz" wrap="square" lIns="0" tIns="0" rIns="0" bIns="0" rtlCol="0">
            <a:spAutoFit/>
          </a:bodyPr>
          <a:lstStyle/>
          <a:p>
            <a:pPr>
              <a:lnSpc>
                <a:spcPts val="1275"/>
              </a:lnSpc>
            </a:pPr>
            <a:r>
              <a:rPr sz="1100" spc="20" dirty="0">
                <a:solidFill>
                  <a:srgbClr val="2D83C3"/>
                </a:solidFill>
                <a:latin typeface="Trebuchet MS"/>
                <a:cs typeface="Trebuchet MS"/>
              </a:rPr>
              <a:t>3/21/202</a:t>
            </a:r>
            <a:r>
              <a:rPr sz="1100" spc="10" dirty="0">
                <a:solidFill>
                  <a:srgbClr val="2D83C3"/>
                </a:solidFill>
                <a:latin typeface="Trebuchet MS"/>
                <a:cs typeface="Trebuchet MS"/>
              </a:rPr>
              <a:t>4</a:t>
            </a:r>
            <a:r>
              <a:rPr sz="1100" dirty="0">
                <a:solidFill>
                  <a:srgbClr val="2D83C3"/>
                </a:solidFill>
                <a:latin typeface="Trebuchet MS"/>
                <a:cs typeface="Trebuchet MS"/>
              </a:rPr>
              <a:t> </a:t>
            </a:r>
            <a:r>
              <a:rPr sz="1100" spc="130" dirty="0">
                <a:solidFill>
                  <a:srgbClr val="2D83C3"/>
                </a:solidFill>
                <a:latin typeface="Trebuchet MS"/>
                <a:cs typeface="Trebuchet MS"/>
              </a:rPr>
              <a:t> </a:t>
            </a:r>
            <a:r>
              <a:rPr sz="1100" b="1" spc="50" dirty="0">
                <a:solidFill>
                  <a:srgbClr val="2D83C3"/>
                </a:solidFill>
                <a:latin typeface="Trebuchet MS"/>
                <a:cs typeface="Trebuchet MS"/>
              </a:rPr>
              <a:t>A</a:t>
            </a:r>
            <a:r>
              <a:rPr sz="1100" b="1" spc="15" dirty="0">
                <a:solidFill>
                  <a:srgbClr val="2D83C3"/>
                </a:solidFill>
                <a:latin typeface="Trebuchet MS"/>
                <a:cs typeface="Trebuchet MS"/>
              </a:rPr>
              <a:t>nnu</a:t>
            </a:r>
            <a:r>
              <a:rPr sz="1100" b="1" spc="10" dirty="0">
                <a:solidFill>
                  <a:srgbClr val="2D83C3"/>
                </a:solidFill>
                <a:latin typeface="Trebuchet MS"/>
                <a:cs typeface="Trebuchet MS"/>
              </a:rPr>
              <a:t>al</a:t>
            </a:r>
            <a:r>
              <a:rPr sz="1100" b="1" spc="-140" dirty="0">
                <a:solidFill>
                  <a:srgbClr val="2D83C3"/>
                </a:solidFill>
                <a:latin typeface="Trebuchet MS"/>
                <a:cs typeface="Trebuchet MS"/>
              </a:rPr>
              <a:t> </a:t>
            </a:r>
            <a:r>
              <a:rPr sz="1100" b="1" dirty="0">
                <a:solidFill>
                  <a:srgbClr val="2D83C3"/>
                </a:solidFill>
                <a:latin typeface="Trebuchet MS"/>
                <a:cs typeface="Trebuchet MS"/>
              </a:rPr>
              <a:t>R</a:t>
            </a:r>
            <a:r>
              <a:rPr sz="1100" b="1" spc="35" dirty="0">
                <a:solidFill>
                  <a:srgbClr val="2D83C3"/>
                </a:solidFill>
                <a:latin typeface="Trebuchet MS"/>
                <a:cs typeface="Trebuchet MS"/>
              </a:rPr>
              <a:t>e</a:t>
            </a:r>
            <a:r>
              <a:rPr sz="1100" b="1" spc="90" dirty="0">
                <a:solidFill>
                  <a:srgbClr val="2D83C3"/>
                </a:solidFill>
                <a:latin typeface="Trebuchet MS"/>
                <a:cs typeface="Trebuchet MS"/>
              </a:rPr>
              <a:t>v</a:t>
            </a:r>
            <a:r>
              <a:rPr sz="1100" b="1" spc="-35" dirty="0">
                <a:solidFill>
                  <a:srgbClr val="2D83C3"/>
                </a:solidFill>
                <a:latin typeface="Trebuchet MS"/>
                <a:cs typeface="Trebuchet MS"/>
              </a:rPr>
              <a:t>i</a:t>
            </a:r>
            <a:r>
              <a:rPr sz="1100" b="1" spc="35" dirty="0">
                <a:solidFill>
                  <a:srgbClr val="2D83C3"/>
                </a:solidFill>
                <a:latin typeface="Trebuchet MS"/>
                <a:cs typeface="Trebuchet MS"/>
              </a:rPr>
              <a:t>e</a:t>
            </a:r>
            <a:r>
              <a:rPr sz="1100" b="1" spc="15" dirty="0">
                <a:solidFill>
                  <a:srgbClr val="2D83C3"/>
                </a:solidFill>
                <a:latin typeface="Trebuchet MS"/>
                <a:cs typeface="Trebuchet MS"/>
              </a:rPr>
              <a:t>w</a:t>
            </a:r>
            <a:endParaRPr sz="1100">
              <a:latin typeface="Trebuchet MS"/>
              <a:cs typeface="Trebuchet MS"/>
            </a:endParaRPr>
          </a:p>
        </p:txBody>
      </p:sp>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p:cNvPicPr/>
          <p:nvPr/>
        </p:nvPicPr>
        <p:blipFill>
          <a:blip r:embed="rId2" cstate="print"/>
          <a:stretch>
            <a:fillRect/>
          </a:stretch>
        </p:blipFill>
        <p:spPr>
          <a:xfrm>
            <a:off x="66675" y="3381373"/>
            <a:ext cx="2466975" cy="3419475"/>
          </a:xfrm>
          <a:prstGeom prst="rect">
            <a:avLst/>
          </a:prstGeom>
        </p:spPr>
      </p:pic>
      <p:sp>
        <p:nvSpPr>
          <p:cNvPr id="7" name="object 7"/>
          <p:cNvSpPr txBox="1">
            <a:spLocks noGrp="1"/>
          </p:cNvSpPr>
          <p:nvPr>
            <p:ph type="title"/>
          </p:nvPr>
        </p:nvSpPr>
        <p:spPr>
          <a:xfrm>
            <a:off x="739775" y="654938"/>
            <a:ext cx="8480425" cy="670696"/>
          </a:xfrm>
          <a:prstGeom prst="rect">
            <a:avLst/>
          </a:prstGeom>
        </p:spPr>
        <p:txBody>
          <a:bodyPr vert="horz" wrap="square" lIns="0" tIns="16510" rIns="0" bIns="0" rtlCol="0">
            <a:spAutoFit/>
          </a:bodyPr>
          <a:lstStyle/>
          <a:p>
            <a:pPr marL="12700">
              <a:lnSpc>
                <a:spcPct val="100000"/>
              </a:lnSpc>
              <a:spcBef>
                <a:spcPts val="130"/>
              </a:spcBef>
            </a:pPr>
            <a:r>
              <a:rPr lang="en-IN" sz="4250" spc="15" dirty="0"/>
              <a:t>RESULTS AND SCREENSHOTS</a:t>
            </a:r>
            <a:endParaRPr sz="4250" dirty="0"/>
          </a:p>
        </p:txBody>
      </p:sp>
      <p:sp>
        <p:nvSpPr>
          <p:cNvPr id="8" name="object 8"/>
          <p:cNvSpPr txBox="1"/>
          <p:nvPr/>
        </p:nvSpPr>
        <p:spPr>
          <a:xfrm>
            <a:off x="11277218" y="6473337"/>
            <a:ext cx="228600" cy="191770"/>
          </a:xfrm>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z="1100" spc="10" dirty="0">
                <a:solidFill>
                  <a:srgbClr val="2D936B"/>
                </a:solidFill>
                <a:latin typeface="Trebuchet MS"/>
                <a:cs typeface="Trebuchet MS"/>
              </a:rPr>
              <a:t>10</a:t>
            </a:fld>
            <a:endParaRPr sz="1100">
              <a:latin typeface="Trebuchet MS"/>
              <a:cs typeface="Trebuchet MS"/>
            </a:endParaRPr>
          </a:p>
        </p:txBody>
      </p:sp>
      <p:sp>
        <p:nvSpPr>
          <p:cNvPr id="9" name="TextBox 8">
            <a:extLst>
              <a:ext uri="{FF2B5EF4-FFF2-40B4-BE49-F238E27FC236}">
                <a16:creationId xmlns:a16="http://schemas.microsoft.com/office/drawing/2014/main" id="{FAD9CEB2-36E1-0550-426B-2FAF97882044}"/>
              </a:ext>
            </a:extLst>
          </p:cNvPr>
          <p:cNvSpPr txBox="1"/>
          <p:nvPr/>
        </p:nvSpPr>
        <p:spPr>
          <a:xfrm>
            <a:off x="533400" y="2133600"/>
            <a:ext cx="8534018" cy="954107"/>
          </a:xfrm>
          <a:prstGeom prst="rect">
            <a:avLst/>
          </a:prstGeom>
          <a:noFill/>
        </p:spPr>
        <p:txBody>
          <a:bodyPr wrap="square" rtlCol="0">
            <a:spAutoFit/>
          </a:bodyPr>
          <a:lstStyle/>
          <a:p>
            <a:pPr algn="l">
              <a:buFont typeface="Arial" panose="020B0604020202020204" pitchFamily="34" charset="0"/>
              <a:buChar char="•"/>
            </a:pPr>
            <a:endParaRPr lang="en-US" sz="2800" b="0" i="0" dirty="0">
              <a:solidFill>
                <a:srgbClr val="0D0D0D"/>
              </a:solidFill>
              <a:effectLst/>
              <a:latin typeface="Times New Roman" panose="02020603050405020304" pitchFamily="18"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05075" y="1192877"/>
            <a:ext cx="8382000" cy="5607971"/>
          </a:xfrm>
          <a:prstGeom prst="rect">
            <a:avLst/>
          </a:prstGeom>
        </p:spPr>
      </p:pic>
      <p:pic>
        <p:nvPicPr>
          <p:cNvPr id="11" name="Picture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62800" y="2862473"/>
            <a:ext cx="3543300" cy="152634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p:cNvPicPr/>
          <p:nvPr/>
        </p:nvPicPr>
        <p:blipFill>
          <a:blip r:embed="rId2" cstate="print"/>
          <a:stretch>
            <a:fillRect/>
          </a:stretch>
        </p:blipFill>
        <p:spPr>
          <a:xfrm>
            <a:off x="1666875" y="6467475"/>
            <a:ext cx="76200" cy="177800"/>
          </a:xfrm>
          <a:prstGeom prst="rect">
            <a:avLst/>
          </a:prstGeom>
        </p:spPr>
      </p:pic>
      <p:sp>
        <p:nvSpPr>
          <p:cNvPr id="7" name="object 7"/>
          <p:cNvSpPr txBox="1">
            <a:spLocks noGrp="1"/>
          </p:cNvSpPr>
          <p:nvPr>
            <p:ph type="title"/>
          </p:nvPr>
        </p:nvSpPr>
        <p:spPr>
          <a:xfrm>
            <a:off x="755332" y="385444"/>
            <a:ext cx="4578668" cy="752129"/>
          </a:xfrm>
          <a:prstGeom prst="rect">
            <a:avLst/>
          </a:prstGeom>
        </p:spPr>
        <p:txBody>
          <a:bodyPr vert="horz" wrap="square" lIns="0" tIns="13335" rIns="0" bIns="0" rtlCol="0">
            <a:spAutoFit/>
          </a:bodyPr>
          <a:lstStyle/>
          <a:p>
            <a:pPr marL="12700">
              <a:lnSpc>
                <a:spcPct val="100000"/>
              </a:lnSpc>
              <a:spcBef>
                <a:spcPts val="105"/>
              </a:spcBef>
            </a:pPr>
            <a:r>
              <a:rPr lang="en-IN" dirty="0"/>
              <a:t>CONCLUSION</a:t>
            </a:r>
            <a:endParaRPr dirty="0"/>
          </a:p>
        </p:txBody>
      </p:sp>
      <p:sp>
        <p:nvSpPr>
          <p:cNvPr id="9" name="object 9"/>
          <p:cNvSpPr txBox="1"/>
          <p:nvPr/>
        </p:nvSpPr>
        <p:spPr>
          <a:xfrm>
            <a:off x="11277218" y="6473337"/>
            <a:ext cx="228600" cy="191770"/>
          </a:xfrm>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z="1100" spc="10" dirty="0">
                <a:solidFill>
                  <a:srgbClr val="2D936B"/>
                </a:solidFill>
                <a:latin typeface="Trebuchet MS"/>
                <a:cs typeface="Trebuchet MS"/>
              </a:rPr>
              <a:t>11</a:t>
            </a:fld>
            <a:endParaRPr sz="1100">
              <a:latin typeface="Trebuchet MS"/>
              <a:cs typeface="Trebuchet MS"/>
            </a:endParaRPr>
          </a:p>
        </p:txBody>
      </p:sp>
      <p:sp>
        <p:nvSpPr>
          <p:cNvPr id="2" name="Rectangle 1"/>
          <p:cNvSpPr/>
          <p:nvPr/>
        </p:nvSpPr>
        <p:spPr>
          <a:xfrm>
            <a:off x="1447800" y="1524000"/>
            <a:ext cx="6096000" cy="3970318"/>
          </a:xfrm>
          <a:prstGeom prst="rect">
            <a:avLst/>
          </a:prstGeom>
        </p:spPr>
        <p:txBody>
          <a:bodyPr>
            <a:spAutoFit/>
          </a:bodyPr>
          <a:lstStyle/>
          <a:p>
            <a:pPr>
              <a:buFont typeface="Arial" panose="020B0604020202020204" pitchFamily="34" charset="0"/>
              <a:buChar char="•"/>
            </a:pPr>
            <a:endParaRPr lang="en-US" dirty="0"/>
          </a:p>
          <a:p>
            <a:pPr>
              <a:buFont typeface="Arial" panose="020B0604020202020204" pitchFamily="34" charset="0"/>
              <a:buChar char="•"/>
            </a:pPr>
            <a:endParaRPr lang="en-US" dirty="0"/>
          </a:p>
          <a:p>
            <a:pPr>
              <a:buFont typeface="Arial" panose="020B0604020202020204" pitchFamily="34" charset="0"/>
              <a:buChar char="•"/>
            </a:pPr>
            <a:r>
              <a:rPr lang="en-US" dirty="0"/>
              <a:t>A portfolio website was created using </a:t>
            </a:r>
            <a:r>
              <a:rPr lang="en-US" b="1" dirty="0"/>
              <a:t>HTML, CSS, and JavaScript</a:t>
            </a:r>
            <a:r>
              <a:rPr lang="en-US" dirty="0"/>
              <a:t> to showcase skills and projects.</a:t>
            </a:r>
          </a:p>
          <a:p>
            <a:endParaRPr lang="en-US" dirty="0"/>
          </a:p>
          <a:p>
            <a:endParaRPr lang="en-US" dirty="0"/>
          </a:p>
          <a:p>
            <a:pPr>
              <a:buFont typeface="Arial" panose="020B0604020202020204" pitchFamily="34" charset="0"/>
              <a:buChar char="•"/>
            </a:pPr>
            <a:r>
              <a:rPr lang="en-US" dirty="0"/>
              <a:t>The site provides a </a:t>
            </a:r>
            <a:r>
              <a:rPr lang="en-US" b="1" dirty="0"/>
              <a:t>simple, responsive, and interactive platform</a:t>
            </a:r>
            <a:r>
              <a:rPr lang="en-US" dirty="0"/>
              <a:t> for students.</a:t>
            </a:r>
          </a:p>
          <a:p>
            <a:endParaRPr lang="en-US" dirty="0"/>
          </a:p>
          <a:p>
            <a:endParaRPr lang="en-US" dirty="0"/>
          </a:p>
          <a:p>
            <a:pPr>
              <a:buFont typeface="Arial" panose="020B0604020202020204" pitchFamily="34" charset="0"/>
              <a:buChar char="•"/>
            </a:pPr>
            <a:r>
              <a:rPr lang="en-US" dirty="0"/>
              <a:t>The project enhanced knowledge of </a:t>
            </a:r>
            <a:r>
              <a:rPr lang="en-US" b="1" dirty="0"/>
              <a:t>front-end web development</a:t>
            </a:r>
            <a:r>
              <a:rPr lang="en-US" dirty="0"/>
              <a:t> and practical implementation.</a:t>
            </a:r>
          </a:p>
          <a:p>
            <a:pPr>
              <a:buFont typeface="Arial" panose="020B0604020202020204" pitchFamily="34" charset="0"/>
              <a:buChar char="•"/>
            </a:pPr>
            <a:endParaRPr lang="en-US" dirty="0"/>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404</TotalTime>
  <Words>260</Words>
  <Application>Microsoft Office PowerPoint</Application>
  <PresentationFormat>Widescreen</PresentationFormat>
  <Paragraphs>95</Paragraphs>
  <Slides>11</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Roboto</vt:lpstr>
      <vt:lpstr>Times New Roman</vt:lpstr>
      <vt:lpstr>Trebuchet MS</vt:lpstr>
      <vt:lpstr>Office Theme</vt:lpstr>
      <vt:lpstr>Digital Portfolio  </vt:lpstr>
      <vt:lpstr>PROJECT TITLE:   Web Development Portfolio    </vt:lpstr>
      <vt:lpstr>AGENDA</vt:lpstr>
      <vt:lpstr>PROBLEM STATEMENT In the digital age, users expect fast, accessible, and seamless online experiences across all devices. However, many existing websites suffer from poor user interfaces, lack of mobile responsiveness, and slow loading times, which lead to high bounce rates and reduced user engagement. Additionally, small businesses and individuals often struggle to find cost-effective, customized solutions that meet their unique needs. </vt:lpstr>
      <vt:lpstr>PROJECT OVERVIEW  This project focuses on creating a personal portfolio website using HTML, CSS, and JavaScript. The portfolio will serve as a digital resume for students to present their skills, academic projects, and achievements in a structured and visually appealing way. HTML will be used to design the structure and content of the website. CSS will provide styling, layouts, and responsiveness across devices. JavaScript will add interactivity, such as navigation menus, animations, and form validation. </vt:lpstr>
      <vt:lpstr>WHO ARE THE END USERS?   . Recruiters &amp; Employers    . Teachers / Academic Evaluators    .  Peers &amp; Collaborators     .  General Audience / Clients  </vt:lpstr>
      <vt:lpstr>TOOLS AND TECHNIQUES</vt:lpstr>
      <vt:lpstr>PowerPoint Presentation</vt:lpstr>
      <vt:lpstr>FEATURES AND FUNCTIONALITY</vt:lpstr>
      <vt:lpstr>RESULTS AND SCREENSHOTS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Face Mask Detection using Convolutional Neural Network (CNN)</dc:title>
  <dc:creator>Konduru Narasimha</dc:creator>
  <cp:lastModifiedBy>KPRCAS</cp:lastModifiedBy>
  <cp:revision>33</cp:revision>
  <dcterms:created xsi:type="dcterms:W3CDTF">2024-03-29T15:07:22Z</dcterms:created>
  <dcterms:modified xsi:type="dcterms:W3CDTF">2025-09-09T09:01:33Z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2024-03-21T00:00:00Z</vt:filetime>
  </property>
  <property fmtid="{D5CDD505-2E9C-101B-9397-08002B2CF9AE}" pid="3" name="LastSaved">
    <vt:filetime>2024-03-29T00:00:00Z</vt:filetime>
  </property>
</Properties>
</file>